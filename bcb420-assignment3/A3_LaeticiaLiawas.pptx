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4" r:id="rId3"/>
    <p:sldId id="257" r:id="rId4"/>
    <p:sldId id="258" r:id="rId5"/>
    <p:sldId id="263"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D8A765-49BB-442E-9894-4746DF26E16B}" v="314" dt="2026-03-17T03:09:03.5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6384" autoAdjust="0"/>
  </p:normalViewPr>
  <p:slideViewPr>
    <p:cSldViewPr snapToGrid="0">
      <p:cViewPr>
        <p:scale>
          <a:sx n="76" d="100"/>
          <a:sy n="76" d="100"/>
        </p:scale>
        <p:origin x="26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eticia Liawas" userId="8f23cfbb-677f-43a7-8320-ba99f73448a7" providerId="ADAL" clId="{BCD7F73C-CEC7-4621-B1B9-6D4F58713343}"/>
    <pc:docChg chg="undo redo custSel addSld modSld sldOrd">
      <pc:chgData name="Laeticia Liawas" userId="8f23cfbb-677f-43a7-8320-ba99f73448a7" providerId="ADAL" clId="{BCD7F73C-CEC7-4621-B1B9-6D4F58713343}" dt="2026-03-17T18:41:36.853" v="5493" actId="20577"/>
      <pc:docMkLst>
        <pc:docMk/>
      </pc:docMkLst>
      <pc:sldChg chg="modNotesTx">
        <pc:chgData name="Laeticia Liawas" userId="8f23cfbb-677f-43a7-8320-ba99f73448a7" providerId="ADAL" clId="{BCD7F73C-CEC7-4621-B1B9-6D4F58713343}" dt="2026-03-16T20:00:50.641" v="417" actId="20577"/>
        <pc:sldMkLst>
          <pc:docMk/>
          <pc:sldMk cId="2353572004" sldId="256"/>
        </pc:sldMkLst>
      </pc:sldChg>
      <pc:sldChg chg="modSp mod ord modAnim modNotesTx">
        <pc:chgData name="Laeticia Liawas" userId="8f23cfbb-677f-43a7-8320-ba99f73448a7" providerId="ADAL" clId="{BCD7F73C-CEC7-4621-B1B9-6D4F58713343}" dt="2026-03-17T18:34:30.058" v="5485" actId="20577"/>
        <pc:sldMkLst>
          <pc:docMk/>
          <pc:sldMk cId="2495788650" sldId="257"/>
        </pc:sldMkLst>
        <pc:spChg chg="mod">
          <ac:chgData name="Laeticia Liawas" userId="8f23cfbb-677f-43a7-8320-ba99f73448a7" providerId="ADAL" clId="{BCD7F73C-CEC7-4621-B1B9-6D4F58713343}" dt="2026-03-17T03:18:14.974" v="5428" actId="27636"/>
          <ac:spMkLst>
            <pc:docMk/>
            <pc:sldMk cId="2495788650" sldId="257"/>
            <ac:spMk id="3" creationId="{9DD4ACF9-F680-B6CF-A083-7F5C4E05F54F}"/>
          </ac:spMkLst>
        </pc:spChg>
        <pc:spChg chg="mod">
          <ac:chgData name="Laeticia Liawas" userId="8f23cfbb-677f-43a7-8320-ba99f73448a7" providerId="ADAL" clId="{BCD7F73C-CEC7-4621-B1B9-6D4F58713343}" dt="2026-03-17T00:12:23.825" v="2518" actId="20577"/>
          <ac:spMkLst>
            <pc:docMk/>
            <pc:sldMk cId="2495788650" sldId="257"/>
            <ac:spMk id="18" creationId="{F1DCE1F1-ACE8-A1FE-3B35-4E2791FA234F}"/>
          </ac:spMkLst>
        </pc:spChg>
        <pc:picChg chg="mod">
          <ac:chgData name="Laeticia Liawas" userId="8f23cfbb-677f-43a7-8320-ba99f73448a7" providerId="ADAL" clId="{BCD7F73C-CEC7-4621-B1B9-6D4F58713343}" dt="2026-03-13T19:14:15.253" v="25" actId="14100"/>
          <ac:picMkLst>
            <pc:docMk/>
            <pc:sldMk cId="2495788650" sldId="257"/>
            <ac:picMk id="1026" creationId="{653F021C-1710-28DD-C5D5-AF4673D5B644}"/>
          </ac:picMkLst>
        </pc:picChg>
        <pc:cxnChg chg="mod">
          <ac:chgData name="Laeticia Liawas" userId="8f23cfbb-677f-43a7-8320-ba99f73448a7" providerId="ADAL" clId="{BCD7F73C-CEC7-4621-B1B9-6D4F58713343}" dt="2026-03-13T19:14:15.253" v="25" actId="14100"/>
          <ac:cxnSpMkLst>
            <pc:docMk/>
            <pc:sldMk cId="2495788650" sldId="257"/>
            <ac:cxnSpMk id="5" creationId="{EA8FCFB3-B7C3-BD11-C88E-1E5F2C302D56}"/>
          </ac:cxnSpMkLst>
        </pc:cxnChg>
      </pc:sldChg>
      <pc:sldChg chg="addSp delSp modSp mod addAnim delAnim modAnim modNotesTx">
        <pc:chgData name="Laeticia Liawas" userId="8f23cfbb-677f-43a7-8320-ba99f73448a7" providerId="ADAL" clId="{BCD7F73C-CEC7-4621-B1B9-6D4F58713343}" dt="2026-03-17T01:06:00.131" v="5206"/>
        <pc:sldMkLst>
          <pc:docMk/>
          <pc:sldMk cId="3380245095" sldId="258"/>
        </pc:sldMkLst>
        <pc:spChg chg="mod">
          <ac:chgData name="Laeticia Liawas" userId="8f23cfbb-677f-43a7-8320-ba99f73448a7" providerId="ADAL" clId="{BCD7F73C-CEC7-4621-B1B9-6D4F58713343}" dt="2026-03-17T00:02:34.167" v="1591" actId="20577"/>
          <ac:spMkLst>
            <pc:docMk/>
            <pc:sldMk cId="3380245095" sldId="258"/>
            <ac:spMk id="2" creationId="{044A633A-7C9B-5032-3B8D-B9F05D4B1775}"/>
          </ac:spMkLst>
        </pc:spChg>
        <pc:spChg chg="add del">
          <ac:chgData name="Laeticia Liawas" userId="8f23cfbb-677f-43a7-8320-ba99f73448a7" providerId="ADAL" clId="{BCD7F73C-CEC7-4621-B1B9-6D4F58713343}" dt="2026-03-17T00:05:14.968" v="1808" actId="22"/>
          <ac:spMkLst>
            <pc:docMk/>
            <pc:sldMk cId="3380245095" sldId="258"/>
            <ac:spMk id="4" creationId="{285FCF52-2BC6-CC73-7824-FFCA0BA74C26}"/>
          </ac:spMkLst>
        </pc:spChg>
        <pc:spChg chg="add mod">
          <ac:chgData name="Laeticia Liawas" userId="8f23cfbb-677f-43a7-8320-ba99f73448a7" providerId="ADAL" clId="{BCD7F73C-CEC7-4621-B1B9-6D4F58713343}" dt="2026-03-17T01:04:45.394" v="5197" actId="1076"/>
          <ac:spMkLst>
            <pc:docMk/>
            <pc:sldMk cId="3380245095" sldId="258"/>
            <ac:spMk id="7" creationId="{20E85F02-FC9C-1EE8-E222-F97350FDA497}"/>
          </ac:spMkLst>
        </pc:spChg>
        <pc:spChg chg="add del">
          <ac:chgData name="Laeticia Liawas" userId="8f23cfbb-677f-43a7-8320-ba99f73448a7" providerId="ADAL" clId="{BCD7F73C-CEC7-4621-B1B9-6D4F58713343}" dt="2026-03-17T01:03:31.852" v="5175" actId="22"/>
          <ac:spMkLst>
            <pc:docMk/>
            <pc:sldMk cId="3380245095" sldId="258"/>
            <ac:spMk id="12" creationId="{D2C3E9B1-1155-E47D-892C-2672FCEAA0C6}"/>
          </ac:spMkLst>
        </pc:spChg>
        <pc:spChg chg="add mod">
          <ac:chgData name="Laeticia Liawas" userId="8f23cfbb-677f-43a7-8320-ba99f73448a7" providerId="ADAL" clId="{BCD7F73C-CEC7-4621-B1B9-6D4F58713343}" dt="2026-03-17T01:04:50.027" v="5198" actId="1076"/>
          <ac:spMkLst>
            <pc:docMk/>
            <pc:sldMk cId="3380245095" sldId="258"/>
            <ac:spMk id="15" creationId="{9671C04C-F2D7-B02F-3E79-FA1C053012F6}"/>
          </ac:spMkLst>
        </pc:spChg>
        <pc:spChg chg="mod">
          <ac:chgData name="Laeticia Liawas" userId="8f23cfbb-677f-43a7-8320-ba99f73448a7" providerId="ADAL" clId="{BCD7F73C-CEC7-4621-B1B9-6D4F58713343}" dt="2026-03-17T00:06:16.069" v="1822" actId="255"/>
          <ac:spMkLst>
            <pc:docMk/>
            <pc:sldMk cId="3380245095" sldId="258"/>
            <ac:spMk id="35" creationId="{74736B89-F33C-05E2-7B81-104FD7ECAE23}"/>
          </ac:spMkLst>
        </pc:spChg>
      </pc:sldChg>
      <pc:sldChg chg="addSp modSp mod addAnim delAnim modAnim modNotesTx">
        <pc:chgData name="Laeticia Liawas" userId="8f23cfbb-677f-43a7-8320-ba99f73448a7" providerId="ADAL" clId="{BCD7F73C-CEC7-4621-B1B9-6D4F58713343}" dt="2026-03-17T03:09:33.199" v="5424" actId="20577"/>
        <pc:sldMkLst>
          <pc:docMk/>
          <pc:sldMk cId="1875137275" sldId="259"/>
        </pc:sldMkLst>
        <pc:spChg chg="mod">
          <ac:chgData name="Laeticia Liawas" userId="8f23cfbb-677f-43a7-8320-ba99f73448a7" providerId="ADAL" clId="{BCD7F73C-CEC7-4621-B1B9-6D4F58713343}" dt="2026-03-17T00:17:32.444" v="2904" actId="20577"/>
          <ac:spMkLst>
            <pc:docMk/>
            <pc:sldMk cId="1875137275" sldId="259"/>
            <ac:spMk id="2" creationId="{575E9ED8-29DF-7319-CC37-35F73BA44995}"/>
          </ac:spMkLst>
        </pc:spChg>
        <pc:spChg chg="mod">
          <ac:chgData name="Laeticia Liawas" userId="8f23cfbb-677f-43a7-8320-ba99f73448a7" providerId="ADAL" clId="{BCD7F73C-CEC7-4621-B1B9-6D4F58713343}" dt="2026-03-17T00:43:48.147" v="3722" actId="20577"/>
          <ac:spMkLst>
            <pc:docMk/>
            <pc:sldMk cId="1875137275" sldId="259"/>
            <ac:spMk id="6" creationId="{02435A77-4F01-086C-5AEB-9CD622E41B8C}"/>
          </ac:spMkLst>
        </pc:spChg>
        <pc:spChg chg="add mod">
          <ac:chgData name="Laeticia Liawas" userId="8f23cfbb-677f-43a7-8320-ba99f73448a7" providerId="ADAL" clId="{BCD7F73C-CEC7-4621-B1B9-6D4F58713343}" dt="2026-03-13T19:19:29.764" v="78" actId="14100"/>
          <ac:spMkLst>
            <pc:docMk/>
            <pc:sldMk cId="1875137275" sldId="259"/>
            <ac:spMk id="7" creationId="{2DA08215-87B7-375C-8EAF-86D258EEF8E1}"/>
          </ac:spMkLst>
        </pc:spChg>
        <pc:spChg chg="add mod">
          <ac:chgData name="Laeticia Liawas" userId="8f23cfbb-677f-43a7-8320-ba99f73448a7" providerId="ADAL" clId="{BCD7F73C-CEC7-4621-B1B9-6D4F58713343}" dt="2026-03-13T19:20:34.727" v="89" actId="14100"/>
          <ac:spMkLst>
            <pc:docMk/>
            <pc:sldMk cId="1875137275" sldId="259"/>
            <ac:spMk id="8" creationId="{ED433486-54AC-D87B-3B41-E99CB7F0C77B}"/>
          </ac:spMkLst>
        </pc:spChg>
        <pc:spChg chg="add mod">
          <ac:chgData name="Laeticia Liawas" userId="8f23cfbb-677f-43a7-8320-ba99f73448a7" providerId="ADAL" clId="{BCD7F73C-CEC7-4621-B1B9-6D4F58713343}" dt="2026-03-13T19:24:35.542" v="115" actId="20577"/>
          <ac:spMkLst>
            <pc:docMk/>
            <pc:sldMk cId="1875137275" sldId="259"/>
            <ac:spMk id="9" creationId="{ADC30C03-88E4-ABC3-5AF0-CD9DEF1BD53B}"/>
          </ac:spMkLst>
        </pc:spChg>
        <pc:spChg chg="add mod">
          <ac:chgData name="Laeticia Liawas" userId="8f23cfbb-677f-43a7-8320-ba99f73448a7" providerId="ADAL" clId="{BCD7F73C-CEC7-4621-B1B9-6D4F58713343}" dt="2026-03-13T19:21:12.655" v="93" actId="1076"/>
          <ac:spMkLst>
            <pc:docMk/>
            <pc:sldMk cId="1875137275" sldId="259"/>
            <ac:spMk id="10" creationId="{0466360C-A99E-F991-A636-DF0465102046}"/>
          </ac:spMkLst>
        </pc:spChg>
        <pc:spChg chg="add mod">
          <ac:chgData name="Laeticia Liawas" userId="8f23cfbb-677f-43a7-8320-ba99f73448a7" providerId="ADAL" clId="{BCD7F73C-CEC7-4621-B1B9-6D4F58713343}" dt="2026-03-13T19:23:42.469" v="110" actId="1076"/>
          <ac:spMkLst>
            <pc:docMk/>
            <pc:sldMk cId="1875137275" sldId="259"/>
            <ac:spMk id="11" creationId="{D13304E9-C266-DC6E-2B9A-407947C3D4AA}"/>
          </ac:spMkLst>
        </pc:spChg>
        <pc:spChg chg="add mod">
          <ac:chgData name="Laeticia Liawas" userId="8f23cfbb-677f-43a7-8320-ba99f73448a7" providerId="ADAL" clId="{BCD7F73C-CEC7-4621-B1B9-6D4F58713343}" dt="2026-03-13T19:24:41.894" v="118" actId="14100"/>
          <ac:spMkLst>
            <pc:docMk/>
            <pc:sldMk cId="1875137275" sldId="259"/>
            <ac:spMk id="12" creationId="{A5837265-12F8-6D69-B5D9-F267D2F5E819}"/>
          </ac:spMkLst>
        </pc:spChg>
        <pc:spChg chg="add mod">
          <ac:chgData name="Laeticia Liawas" userId="8f23cfbb-677f-43a7-8320-ba99f73448a7" providerId="ADAL" clId="{BCD7F73C-CEC7-4621-B1B9-6D4F58713343}" dt="2026-03-13T19:24:47.881" v="121" actId="14100"/>
          <ac:spMkLst>
            <pc:docMk/>
            <pc:sldMk cId="1875137275" sldId="259"/>
            <ac:spMk id="13" creationId="{0671FD4B-4EC1-5D0A-345B-58D2E86A1345}"/>
          </ac:spMkLst>
        </pc:spChg>
        <pc:picChg chg="mod">
          <ac:chgData name="Laeticia Liawas" userId="8f23cfbb-677f-43a7-8320-ba99f73448a7" providerId="ADAL" clId="{BCD7F73C-CEC7-4621-B1B9-6D4F58713343}" dt="2026-03-13T19:19:22.691" v="75" actId="34135"/>
          <ac:picMkLst>
            <pc:docMk/>
            <pc:sldMk cId="1875137275" sldId="259"/>
            <ac:picMk id="2052" creationId="{87943FF7-0CF3-46F4-7ACA-60B761C9BACF}"/>
          </ac:picMkLst>
        </pc:picChg>
      </pc:sldChg>
      <pc:sldChg chg="addSp delSp modSp mod delAnim modAnim modNotesTx">
        <pc:chgData name="Laeticia Liawas" userId="8f23cfbb-677f-43a7-8320-ba99f73448a7" providerId="ADAL" clId="{BCD7F73C-CEC7-4621-B1B9-6D4F58713343}" dt="2026-03-17T18:41:30.011" v="5491" actId="20577"/>
        <pc:sldMkLst>
          <pc:docMk/>
          <pc:sldMk cId="135617256" sldId="260"/>
        </pc:sldMkLst>
        <pc:spChg chg="mod">
          <ac:chgData name="Laeticia Liawas" userId="8f23cfbb-677f-43a7-8320-ba99f73448a7" providerId="ADAL" clId="{BCD7F73C-CEC7-4621-B1B9-6D4F58713343}" dt="2026-03-17T00:53:14.225" v="4510" actId="20577"/>
          <ac:spMkLst>
            <pc:docMk/>
            <pc:sldMk cId="135617256" sldId="260"/>
            <ac:spMk id="8" creationId="{036409E6-2190-1D87-7BEC-297DB07FFE1B}"/>
          </ac:spMkLst>
        </pc:spChg>
        <pc:spChg chg="mod">
          <ac:chgData name="Laeticia Liawas" userId="8f23cfbb-677f-43a7-8320-ba99f73448a7" providerId="ADAL" clId="{BCD7F73C-CEC7-4621-B1B9-6D4F58713343}" dt="2026-03-17T00:53:04.945" v="4481" actId="20577"/>
          <ac:spMkLst>
            <pc:docMk/>
            <pc:sldMk cId="135617256" sldId="260"/>
            <ac:spMk id="9" creationId="{A4A488C4-1728-2DFA-7FF2-264C73BD901A}"/>
          </ac:spMkLst>
        </pc:spChg>
        <pc:spChg chg="mod">
          <ac:chgData name="Laeticia Liawas" userId="8f23cfbb-677f-43a7-8320-ba99f73448a7" providerId="ADAL" clId="{BCD7F73C-CEC7-4621-B1B9-6D4F58713343}" dt="2026-03-17T00:46:00.356" v="3993" actId="20577"/>
          <ac:spMkLst>
            <pc:docMk/>
            <pc:sldMk cId="135617256" sldId="260"/>
            <ac:spMk id="10" creationId="{0441B0BC-D1BA-ED9A-1C78-78DCA51707DB}"/>
          </ac:spMkLst>
        </pc:spChg>
        <pc:picChg chg="add del mod">
          <ac:chgData name="Laeticia Liawas" userId="8f23cfbb-677f-43a7-8320-ba99f73448a7" providerId="ADAL" clId="{BCD7F73C-CEC7-4621-B1B9-6D4F58713343}" dt="2026-03-17T00:46:57.208" v="3994" actId="478"/>
          <ac:picMkLst>
            <pc:docMk/>
            <pc:sldMk cId="135617256" sldId="260"/>
            <ac:picMk id="23" creationId="{0C0C16DE-CF27-C897-2051-47D526D3F931}"/>
          </ac:picMkLst>
        </pc:picChg>
        <pc:picChg chg="add mod">
          <ac:chgData name="Laeticia Liawas" userId="8f23cfbb-677f-43a7-8320-ba99f73448a7" providerId="ADAL" clId="{BCD7F73C-CEC7-4621-B1B9-6D4F58713343}" dt="2026-03-17T00:49:10.626" v="4280" actId="1076"/>
          <ac:picMkLst>
            <pc:docMk/>
            <pc:sldMk cId="135617256" sldId="260"/>
            <ac:picMk id="27" creationId="{27B915FC-1594-5D34-47DD-E058087DF73E}"/>
          </ac:picMkLst>
        </pc:picChg>
        <pc:picChg chg="mod">
          <ac:chgData name="Laeticia Liawas" userId="8f23cfbb-677f-43a7-8320-ba99f73448a7" providerId="ADAL" clId="{BCD7F73C-CEC7-4621-B1B9-6D4F58713343}" dt="2026-03-17T00:27:13.631" v="3294" actId="14100"/>
          <ac:picMkLst>
            <pc:docMk/>
            <pc:sldMk cId="135617256" sldId="260"/>
            <ac:picMk id="4098" creationId="{E352F326-D721-C600-409E-F67C20C9F285}"/>
          </ac:picMkLst>
        </pc:picChg>
        <pc:cxnChg chg="add mod">
          <ac:chgData name="Laeticia Liawas" userId="8f23cfbb-677f-43a7-8320-ba99f73448a7" providerId="ADAL" clId="{BCD7F73C-CEC7-4621-B1B9-6D4F58713343}" dt="2026-03-17T00:27:13.631" v="3294" actId="14100"/>
          <ac:cxnSpMkLst>
            <pc:docMk/>
            <pc:sldMk cId="135617256" sldId="260"/>
            <ac:cxnSpMk id="11" creationId="{8B10B8F2-36F9-AB30-F914-82B2E01CCF2E}"/>
          </ac:cxnSpMkLst>
        </pc:cxnChg>
        <pc:cxnChg chg="add mod">
          <ac:chgData name="Laeticia Liawas" userId="8f23cfbb-677f-43a7-8320-ba99f73448a7" providerId="ADAL" clId="{BCD7F73C-CEC7-4621-B1B9-6D4F58713343}" dt="2026-03-17T00:27:13.631" v="3294" actId="14100"/>
          <ac:cxnSpMkLst>
            <pc:docMk/>
            <pc:sldMk cId="135617256" sldId="260"/>
            <ac:cxnSpMk id="13" creationId="{66657FA6-12E1-8DDA-A10A-7DF17AD1EE0E}"/>
          </ac:cxnSpMkLst>
        </pc:cxnChg>
        <pc:cxnChg chg="add mod">
          <ac:chgData name="Laeticia Liawas" userId="8f23cfbb-677f-43a7-8320-ba99f73448a7" providerId="ADAL" clId="{BCD7F73C-CEC7-4621-B1B9-6D4F58713343}" dt="2026-03-17T00:27:13.631" v="3294" actId="14100"/>
          <ac:cxnSpMkLst>
            <pc:docMk/>
            <pc:sldMk cId="135617256" sldId="260"/>
            <ac:cxnSpMk id="18" creationId="{D739C134-7A7F-CD9C-ACCA-6CE634033D4D}"/>
          </ac:cxnSpMkLst>
        </pc:cxnChg>
      </pc:sldChg>
      <pc:sldChg chg="modSp mod modAnim modNotesTx">
        <pc:chgData name="Laeticia Liawas" userId="8f23cfbb-677f-43a7-8320-ba99f73448a7" providerId="ADAL" clId="{BCD7F73C-CEC7-4621-B1B9-6D4F58713343}" dt="2026-03-17T18:41:36.853" v="5493" actId="20577"/>
        <pc:sldMkLst>
          <pc:docMk/>
          <pc:sldMk cId="1905370076" sldId="261"/>
        </pc:sldMkLst>
        <pc:spChg chg="mod">
          <ac:chgData name="Laeticia Liawas" userId="8f23cfbb-677f-43a7-8320-ba99f73448a7" providerId="ADAL" clId="{BCD7F73C-CEC7-4621-B1B9-6D4F58713343}" dt="2026-03-13T19:26:44.172" v="177" actId="20577"/>
          <ac:spMkLst>
            <pc:docMk/>
            <pc:sldMk cId="1905370076" sldId="261"/>
            <ac:spMk id="2" creationId="{A69BF849-2596-E342-BEF2-2F08314ABCB7}"/>
          </ac:spMkLst>
        </pc:spChg>
        <pc:spChg chg="mod">
          <ac:chgData name="Laeticia Liawas" userId="8f23cfbb-677f-43a7-8320-ba99f73448a7" providerId="ADAL" clId="{BCD7F73C-CEC7-4621-B1B9-6D4F58713343}" dt="2026-03-17T00:56:53.477" v="5081" actId="20577"/>
          <ac:spMkLst>
            <pc:docMk/>
            <pc:sldMk cId="1905370076" sldId="261"/>
            <ac:spMk id="3" creationId="{5707B71D-5BD3-2E98-8B8E-DB8483CF60B8}"/>
          </ac:spMkLst>
        </pc:spChg>
      </pc:sldChg>
      <pc:sldChg chg="addSp modSp mod addAnim delAnim modAnim modNotesTx">
        <pc:chgData name="Laeticia Liawas" userId="8f23cfbb-677f-43a7-8320-ba99f73448a7" providerId="ADAL" clId="{BCD7F73C-CEC7-4621-B1B9-6D4F58713343}" dt="2026-03-17T18:41:12.213" v="5487" actId="20577"/>
        <pc:sldMkLst>
          <pc:docMk/>
          <pc:sldMk cId="2698066614" sldId="263"/>
        </pc:sldMkLst>
        <pc:spChg chg="mod">
          <ac:chgData name="Laeticia Liawas" userId="8f23cfbb-677f-43a7-8320-ba99f73448a7" providerId="ADAL" clId="{BCD7F73C-CEC7-4621-B1B9-6D4F58713343}" dt="2026-03-13T19:17:53.159" v="63" actId="21"/>
          <ac:spMkLst>
            <pc:docMk/>
            <pc:sldMk cId="2698066614" sldId="263"/>
            <ac:spMk id="3" creationId="{D419676C-D533-D251-25E1-A2E1678A3CF1}"/>
          </ac:spMkLst>
        </pc:spChg>
        <pc:spChg chg="add mod">
          <ac:chgData name="Laeticia Liawas" userId="8f23cfbb-677f-43a7-8320-ba99f73448a7" providerId="ADAL" clId="{BCD7F73C-CEC7-4621-B1B9-6D4F58713343}" dt="2026-03-13T19:16:23.405" v="42" actId="14100"/>
          <ac:spMkLst>
            <pc:docMk/>
            <pc:sldMk cId="2698066614" sldId="263"/>
            <ac:spMk id="4" creationId="{2F26EF62-A77B-4E74-7864-D0E6E4347677}"/>
          </ac:spMkLst>
        </pc:spChg>
        <pc:spChg chg="add mod">
          <ac:chgData name="Laeticia Liawas" userId="8f23cfbb-677f-43a7-8320-ba99f73448a7" providerId="ADAL" clId="{BCD7F73C-CEC7-4621-B1B9-6D4F58713343}" dt="2026-03-13T19:16:32.168" v="45" actId="14100"/>
          <ac:spMkLst>
            <pc:docMk/>
            <pc:sldMk cId="2698066614" sldId="263"/>
            <ac:spMk id="5" creationId="{5DD14179-C10B-7A29-A839-6C60B6008159}"/>
          </ac:spMkLst>
        </pc:spChg>
        <pc:spChg chg="add mod">
          <ac:chgData name="Laeticia Liawas" userId="8f23cfbb-677f-43a7-8320-ba99f73448a7" providerId="ADAL" clId="{BCD7F73C-CEC7-4621-B1B9-6D4F58713343}" dt="2026-03-13T19:16:58.123" v="50" actId="208"/>
          <ac:spMkLst>
            <pc:docMk/>
            <pc:sldMk cId="2698066614" sldId="263"/>
            <ac:spMk id="6" creationId="{633EE1B8-16D8-C9C6-7E48-5F7C8D58ED6C}"/>
          </ac:spMkLst>
        </pc:spChg>
        <pc:spChg chg="add mod">
          <ac:chgData name="Laeticia Liawas" userId="8f23cfbb-677f-43a7-8320-ba99f73448a7" providerId="ADAL" clId="{BCD7F73C-CEC7-4621-B1B9-6D4F58713343}" dt="2026-03-13T19:17:11.336" v="55" actId="14100"/>
          <ac:spMkLst>
            <pc:docMk/>
            <pc:sldMk cId="2698066614" sldId="263"/>
            <ac:spMk id="7" creationId="{CC86B22F-656A-7DF3-8946-52197371084E}"/>
          </ac:spMkLst>
        </pc:spChg>
      </pc:sldChg>
      <pc:sldChg chg="modSp new mod">
        <pc:chgData name="Laeticia Liawas" userId="8f23cfbb-677f-43a7-8320-ba99f73448a7" providerId="ADAL" clId="{BCD7F73C-CEC7-4621-B1B9-6D4F58713343}" dt="2026-03-17T18:34:14.246" v="5484" actId="20577"/>
        <pc:sldMkLst>
          <pc:docMk/>
          <pc:sldMk cId="3821122696" sldId="264"/>
        </pc:sldMkLst>
        <pc:spChg chg="mod">
          <ac:chgData name="Laeticia Liawas" userId="8f23cfbb-677f-43a7-8320-ba99f73448a7" providerId="ADAL" clId="{BCD7F73C-CEC7-4621-B1B9-6D4F58713343}" dt="2026-03-17T02:21:43.718" v="5241" actId="20577"/>
          <ac:spMkLst>
            <pc:docMk/>
            <pc:sldMk cId="3821122696" sldId="264"/>
            <ac:spMk id="2" creationId="{9E0DBFD3-6B87-C39B-BEA5-D15C2FA24704}"/>
          </ac:spMkLst>
        </pc:spChg>
        <pc:spChg chg="mod">
          <ac:chgData name="Laeticia Liawas" userId="8f23cfbb-677f-43a7-8320-ba99f73448a7" providerId="ADAL" clId="{BCD7F73C-CEC7-4621-B1B9-6D4F58713343}" dt="2026-03-17T18:34:14.246" v="5484" actId="20577"/>
          <ac:spMkLst>
            <pc:docMk/>
            <pc:sldMk cId="3821122696" sldId="264"/>
            <ac:spMk id="3" creationId="{DB1288A2-9303-C592-90EA-A959D43C5B3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95240C-0B88-48C8-847B-899C92A78ECB}" type="datetimeFigureOut">
              <a:rPr lang="en-MY" smtClean="0"/>
              <a:t>14/3/2026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ABEA47-14DD-4B1A-96AD-E51CA3E5ADA1}" type="slidenum">
              <a:rPr lang="en-MY" smtClean="0"/>
              <a:t>‹#›</a:t>
            </a:fld>
            <a:endParaRPr lang="en-MY"/>
          </a:p>
        </p:txBody>
      </p:sp>
    </p:spTree>
    <p:extLst>
      <p:ext uri="{BB962C8B-B14F-4D97-AF65-F5344CB8AC3E}">
        <p14:creationId xmlns:p14="http://schemas.microsoft.com/office/powerpoint/2010/main" val="3615150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(Hi my name is …)</a:t>
            </a:r>
          </a:p>
          <a:p>
            <a:endParaRPr lang="en-MY" dirty="0"/>
          </a:p>
        </p:txBody>
      </p:sp>
      <p:sp>
        <p:nvSpPr>
          <p:cNvPr id="4" name="Slide Number Placeholder 3"/>
          <p:cNvSpPr>
            <a:spLocks noGrp="1"/>
          </p:cNvSpPr>
          <p:nvPr>
            <p:ph type="sldNum" sz="quarter" idx="5"/>
          </p:nvPr>
        </p:nvSpPr>
        <p:spPr/>
        <p:txBody>
          <a:bodyPr/>
          <a:lstStyle/>
          <a:p>
            <a:fld id="{EAABEA47-14DD-4B1A-96AD-E51CA3E5ADA1}" type="slidenum">
              <a:rPr lang="en-MY" smtClean="0"/>
              <a:t>1</a:t>
            </a:fld>
            <a:endParaRPr lang="en-MY"/>
          </a:p>
        </p:txBody>
      </p:sp>
    </p:spTree>
    <p:extLst>
      <p:ext uri="{BB962C8B-B14F-4D97-AF65-F5344CB8AC3E}">
        <p14:creationId xmlns:p14="http://schemas.microsoft.com/office/powerpoint/2010/main" val="359602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Clearly explains the biological question, dataset, and motivation; correct and concise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That’s why I chose to </a:t>
            </a:r>
            <a:r>
              <a:rPr lang="en-US" sz="1200" b="0" i="0" kern="1200" dirty="0" err="1">
                <a:solidFill>
                  <a:schemeClr val="tx1"/>
                </a:solidFill>
                <a:effectLst/>
                <a:latin typeface="+mn-lt"/>
                <a:ea typeface="+mn-ea"/>
                <a:cs typeface="+mn-cs"/>
              </a:rPr>
              <a:t>analyse</a:t>
            </a:r>
            <a:r>
              <a:rPr lang="en-US" sz="1200" b="0" i="0" kern="1200" dirty="0">
                <a:solidFill>
                  <a:schemeClr val="tx1"/>
                </a:solidFill>
                <a:effectLst/>
                <a:latin typeface="+mn-lt"/>
                <a:ea typeface="+mn-ea"/>
                <a:cs typeface="+mn-cs"/>
              </a:rPr>
              <a:t> a dataset of </a:t>
            </a:r>
            <a:r>
              <a:rPr lang="en-US" sz="1200" b="0" i="0" kern="1200" dirty="0" err="1">
                <a:solidFill>
                  <a:schemeClr val="tx1"/>
                </a:solidFill>
                <a:effectLst/>
                <a:latin typeface="+mn-lt"/>
                <a:ea typeface="+mn-ea"/>
                <a:cs typeface="+mn-cs"/>
              </a:rPr>
              <a:t>hILCs</a:t>
            </a:r>
            <a:r>
              <a:rPr lang="en-US" sz="1200" b="0" i="0" kern="1200" dirty="0">
                <a:solidFill>
                  <a:schemeClr val="tx1"/>
                </a:solidFill>
                <a:effectLst/>
                <a:latin typeface="+mn-lt"/>
                <a:ea typeface="+mn-ea"/>
                <a:cs typeface="+mn-cs"/>
              </a:rPr>
              <a:t> in patients at the earlier febrile or later convalescent phase, in two diff. severities of infection. </a:t>
            </a:r>
            <a:endParaRPr lang="en-MY" dirty="0"/>
          </a:p>
        </p:txBody>
      </p:sp>
      <p:sp>
        <p:nvSpPr>
          <p:cNvPr id="4" name="Slide Number Placeholder 3"/>
          <p:cNvSpPr>
            <a:spLocks noGrp="1"/>
          </p:cNvSpPr>
          <p:nvPr>
            <p:ph type="sldNum" sz="quarter" idx="5"/>
          </p:nvPr>
        </p:nvSpPr>
        <p:spPr/>
        <p:txBody>
          <a:bodyPr/>
          <a:lstStyle/>
          <a:p>
            <a:fld id="{EAABEA47-14DD-4B1A-96AD-E51CA3E5ADA1}" type="slidenum">
              <a:rPr lang="en-MY" smtClean="0"/>
              <a:t>3</a:t>
            </a:fld>
            <a:endParaRPr lang="en-MY"/>
          </a:p>
        </p:txBody>
      </p:sp>
    </p:spTree>
    <p:extLst>
      <p:ext uri="{BB962C8B-B14F-4D97-AF65-F5344CB8AC3E}">
        <p14:creationId xmlns:p14="http://schemas.microsoft.com/office/powerpoint/2010/main" val="3190875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:Explains pipeline structure clearly</a:t>
            </a:r>
            <a:br>
              <a:rPr lang="en-US" dirty="0"/>
            </a:br>
            <a:r>
              <a:rPr lang="en-US" sz="1200" b="0" i="0" kern="1200" dirty="0">
                <a:solidFill>
                  <a:schemeClr val="tx1"/>
                </a:solidFill>
                <a:effectLst/>
                <a:latin typeface="+mn-lt"/>
                <a:ea typeface="+mn-ea"/>
                <a:cs typeface="+mn-cs"/>
              </a:rPr>
              <a:t>Shows key code/steps reproducibly</a:t>
            </a:r>
            <a:br>
              <a:rPr lang="en-US" dirty="0"/>
            </a:br>
            <a:r>
              <a:rPr lang="en-US" sz="1200" b="0" i="0" kern="1200" dirty="0">
                <a:solidFill>
                  <a:schemeClr val="tx1"/>
                </a:solidFill>
                <a:effectLst/>
                <a:latin typeface="+mn-lt"/>
                <a:ea typeface="+mn-ea"/>
                <a:cs typeface="+mn-cs"/>
              </a:rPr>
              <a:t>Justifies tools/packages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After differential expression analysis, I adapted the results into a gene list, ranked by </a:t>
            </a:r>
            <a:r>
              <a:rPr lang="en-US" sz="1200" b="0" i="0" kern="1200" dirty="0" err="1">
                <a:solidFill>
                  <a:schemeClr val="tx1"/>
                </a:solidFill>
                <a:effectLst/>
                <a:latin typeface="+mn-lt"/>
                <a:ea typeface="+mn-ea"/>
                <a:cs typeface="+mn-cs"/>
              </a:rPr>
              <a:t>logFC</a:t>
            </a:r>
            <a:r>
              <a:rPr lang="en-US" sz="1200" b="0" i="0" kern="1200" dirty="0">
                <a:solidFill>
                  <a:schemeClr val="tx1"/>
                </a:solidFill>
                <a:effectLst/>
                <a:latin typeface="+mn-lt"/>
                <a:ea typeface="+mn-ea"/>
                <a:cs typeface="+mn-cs"/>
              </a:rPr>
              <a:t>. Then, using the pathway gene sets provided by the Bader Lab I conducted a non-</a:t>
            </a:r>
            <a:r>
              <a:rPr lang="en-US" sz="1200" b="0" i="0" kern="1200" dirty="0" err="1">
                <a:solidFill>
                  <a:schemeClr val="tx1"/>
                </a:solidFill>
                <a:effectLst/>
                <a:latin typeface="+mn-lt"/>
                <a:ea typeface="+mn-ea"/>
                <a:cs typeface="+mn-cs"/>
              </a:rPr>
              <a:t>thresholded</a:t>
            </a:r>
            <a:r>
              <a:rPr lang="en-US" sz="1200" b="0" i="0" kern="1200" dirty="0">
                <a:solidFill>
                  <a:schemeClr val="tx1"/>
                </a:solidFill>
                <a:effectLst/>
                <a:latin typeface="+mn-lt"/>
                <a:ea typeface="+mn-ea"/>
                <a:cs typeface="+mn-cs"/>
              </a:rPr>
              <a:t> enrichment analysis using the </a:t>
            </a:r>
            <a:r>
              <a:rPr lang="en-US" sz="1200" b="0" i="0" kern="1200" dirty="0" err="1">
                <a:solidFill>
                  <a:schemeClr val="tx1"/>
                </a:solidFill>
                <a:effectLst/>
                <a:latin typeface="+mn-lt"/>
                <a:ea typeface="+mn-ea"/>
                <a:cs typeface="+mn-cs"/>
              </a:rPr>
              <a:t>fgsea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biocond</a:t>
            </a:r>
            <a:r>
              <a:rPr lang="en-US" sz="1200" b="0" i="0" kern="1200" dirty="0">
                <a:solidFill>
                  <a:schemeClr val="tx1"/>
                </a:solidFill>
                <a:effectLst/>
                <a:latin typeface="+mn-lt"/>
                <a:ea typeface="+mn-ea"/>
                <a:cs typeface="+mn-cs"/>
              </a:rPr>
              <a:t>. Package. Chose because fast, and to be able to keep my working pipeline within R. </a:t>
            </a:r>
          </a:p>
          <a:p>
            <a:r>
              <a:rPr lang="en-US" sz="1200" b="0" i="0" kern="1200" dirty="0">
                <a:solidFill>
                  <a:schemeClr val="tx1"/>
                </a:solidFill>
                <a:effectLst/>
                <a:latin typeface="+mn-lt"/>
                <a:ea typeface="+mn-ea"/>
                <a:cs typeface="+mn-cs"/>
              </a:rPr>
              <a:t>After, I used </a:t>
            </a:r>
            <a:r>
              <a:rPr lang="en-US" sz="1200" b="0" i="0" kern="1200" dirty="0" err="1">
                <a:solidFill>
                  <a:schemeClr val="tx1"/>
                </a:solidFill>
                <a:effectLst/>
                <a:latin typeface="+mn-lt"/>
                <a:ea typeface="+mn-ea"/>
                <a:cs typeface="+mn-cs"/>
              </a:rPr>
              <a:t>cytoscape</a:t>
            </a:r>
            <a:r>
              <a:rPr lang="en-US" sz="1200" b="0" i="0" kern="1200" dirty="0">
                <a:solidFill>
                  <a:schemeClr val="tx1"/>
                </a:solidFill>
                <a:effectLst/>
                <a:latin typeface="+mn-lt"/>
                <a:ea typeface="+mn-ea"/>
                <a:cs typeface="+mn-cs"/>
              </a:rPr>
              <a:t>, namely the enrichment map and auto annotate map apps, to </a:t>
            </a:r>
            <a:r>
              <a:rPr lang="en-US" sz="1200" b="0" i="0" kern="1200" dirty="0" err="1">
                <a:solidFill>
                  <a:schemeClr val="tx1"/>
                </a:solidFill>
                <a:effectLst/>
                <a:latin typeface="+mn-lt"/>
                <a:ea typeface="+mn-ea"/>
                <a:cs typeface="+mn-cs"/>
              </a:rPr>
              <a:t>visualise</a:t>
            </a:r>
            <a:r>
              <a:rPr lang="en-US" sz="1200" b="0" i="0" kern="1200" dirty="0">
                <a:solidFill>
                  <a:schemeClr val="tx1"/>
                </a:solidFill>
                <a:effectLst/>
                <a:latin typeface="+mn-lt"/>
                <a:ea typeface="+mn-ea"/>
                <a:cs typeface="+mn-cs"/>
              </a:rPr>
              <a:t> the results and easily view themes that may have been missed.</a:t>
            </a:r>
            <a:endParaRPr lang="en-MY" dirty="0"/>
          </a:p>
        </p:txBody>
      </p:sp>
      <p:sp>
        <p:nvSpPr>
          <p:cNvPr id="4" name="Slide Number Placeholder 3"/>
          <p:cNvSpPr>
            <a:spLocks noGrp="1"/>
          </p:cNvSpPr>
          <p:nvPr>
            <p:ph type="sldNum" sz="quarter" idx="5"/>
          </p:nvPr>
        </p:nvSpPr>
        <p:spPr/>
        <p:txBody>
          <a:bodyPr/>
          <a:lstStyle/>
          <a:p>
            <a:fld id="{EAABEA47-14DD-4B1A-96AD-E51CA3E5ADA1}" type="slidenum">
              <a:rPr lang="en-MY" smtClean="0"/>
              <a:t>4</a:t>
            </a:fld>
            <a:endParaRPr lang="en-MY"/>
          </a:p>
        </p:txBody>
      </p:sp>
    </p:spTree>
    <p:extLst>
      <p:ext uri="{BB962C8B-B14F-4D97-AF65-F5344CB8AC3E}">
        <p14:creationId xmlns:p14="http://schemas.microsoft.com/office/powerpoint/2010/main" val="3397909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Are conclusions supported by data?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From GSEA, found that all terms had a very high FDR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Still, based on the p-</a:t>
            </a:r>
            <a:r>
              <a:rPr lang="en-US" sz="1200" b="0" i="0" kern="1200" dirty="0" err="1">
                <a:solidFill>
                  <a:schemeClr val="tx1"/>
                </a:solidFill>
                <a:effectLst/>
                <a:latin typeface="+mn-lt"/>
                <a:ea typeface="+mn-ea"/>
                <a:cs typeface="+mn-cs"/>
              </a:rPr>
              <a:t>val</a:t>
            </a:r>
            <a:r>
              <a:rPr lang="en-US" sz="1200" b="0" i="0" kern="1200" dirty="0">
                <a:solidFill>
                  <a:schemeClr val="tx1"/>
                </a:solidFill>
                <a:effectLst/>
                <a:latin typeface="+mn-lt"/>
                <a:ea typeface="+mn-ea"/>
                <a:cs typeface="+mn-cs"/>
              </a:rPr>
              <a:t>, found that phagocytosis and </a:t>
            </a:r>
            <a:r>
              <a:rPr lang="en-US" sz="1200" b="0" i="0" kern="1200" dirty="0" err="1">
                <a:solidFill>
                  <a:schemeClr val="tx1"/>
                </a:solidFill>
                <a:effectLst/>
                <a:latin typeface="+mn-lt"/>
                <a:ea typeface="+mn-ea"/>
                <a:cs typeface="+mn-cs"/>
              </a:rPr>
              <a:t>egfr</a:t>
            </a:r>
            <a:r>
              <a:rPr lang="en-US" sz="1200" b="0" i="0" kern="1200" dirty="0">
                <a:solidFill>
                  <a:schemeClr val="tx1"/>
                </a:solidFill>
                <a:effectLst/>
                <a:latin typeface="+mn-lt"/>
                <a:ea typeface="+mn-ea"/>
                <a:cs typeface="+mn-cs"/>
              </a:rPr>
              <a:t> downregulation were enriched terms among UPREG. Genes in DHF. Corroborates with reported features of DHF, i.e. higher macrophage activity and vascularization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Many of the top terms were enriched in the downregulated genes, could be </a:t>
            </a:r>
            <a:r>
              <a:rPr lang="en-US" sz="1200" b="0" i="0" kern="1200" dirty="0" err="1">
                <a:solidFill>
                  <a:schemeClr val="tx1"/>
                </a:solidFill>
                <a:effectLst/>
                <a:latin typeface="+mn-lt"/>
                <a:ea typeface="+mn-ea"/>
                <a:cs typeface="+mn-cs"/>
              </a:rPr>
              <a:t>tht</a:t>
            </a:r>
            <a:r>
              <a:rPr lang="en-US" sz="1200" b="0" i="0" kern="1200" dirty="0">
                <a:solidFill>
                  <a:schemeClr val="tx1"/>
                </a:solidFill>
                <a:effectLst/>
                <a:latin typeface="+mn-lt"/>
                <a:ea typeface="+mn-ea"/>
                <a:cs typeface="+mn-cs"/>
              </a:rPr>
              <a:t> downregulation of certain genes and processes are correlated with the severity</a:t>
            </a:r>
          </a:p>
          <a:p>
            <a:endParaRPr lang="en-MY" dirty="0"/>
          </a:p>
        </p:txBody>
      </p:sp>
      <p:sp>
        <p:nvSpPr>
          <p:cNvPr id="4" name="Slide Number Placeholder 3"/>
          <p:cNvSpPr>
            <a:spLocks noGrp="1"/>
          </p:cNvSpPr>
          <p:nvPr>
            <p:ph type="sldNum" sz="quarter" idx="5"/>
          </p:nvPr>
        </p:nvSpPr>
        <p:spPr/>
        <p:txBody>
          <a:bodyPr/>
          <a:lstStyle/>
          <a:p>
            <a:fld id="{EAABEA47-14DD-4B1A-96AD-E51CA3E5ADA1}" type="slidenum">
              <a:rPr lang="en-MY" smtClean="0"/>
              <a:t>5</a:t>
            </a:fld>
            <a:endParaRPr lang="en-MY"/>
          </a:p>
        </p:txBody>
      </p:sp>
    </p:spTree>
    <p:extLst>
      <p:ext uri="{BB962C8B-B14F-4D97-AF65-F5344CB8AC3E}">
        <p14:creationId xmlns:p14="http://schemas.microsoft.com/office/powerpoint/2010/main" val="2667785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Are conclusions supported by data?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 visualizing results in </a:t>
            </a:r>
            <a:r>
              <a:rPr lang="en-US" sz="1200" b="0" i="0" kern="1200" dirty="0" err="1">
                <a:solidFill>
                  <a:schemeClr val="tx1"/>
                </a:solidFill>
                <a:effectLst/>
                <a:latin typeface="+mn-lt"/>
                <a:ea typeface="+mn-ea"/>
                <a:cs typeface="+mn-cs"/>
              </a:rPr>
              <a:t>cytoscape</a:t>
            </a:r>
            <a:r>
              <a:rPr lang="en-US" sz="1200" b="0" i="0" kern="1200" dirty="0">
                <a:solidFill>
                  <a:schemeClr val="tx1"/>
                </a:solidFill>
                <a:effectLst/>
                <a:latin typeface="+mn-lt"/>
                <a:ea typeface="+mn-ea"/>
                <a:cs typeface="+mn-cs"/>
              </a:rPr>
              <a:t> using the enrichment map app, and grouping terms using auto annotate, found some themes in enriched terms,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Enrichment of terms related to positive phosphorylation in </a:t>
            </a:r>
            <a:r>
              <a:rPr lang="en-US" sz="1200" b="0" i="0" kern="1200" dirty="0" err="1">
                <a:solidFill>
                  <a:schemeClr val="tx1"/>
                </a:solidFill>
                <a:effectLst/>
                <a:latin typeface="+mn-lt"/>
                <a:ea typeface="+mn-ea"/>
                <a:cs typeface="+mn-cs"/>
              </a:rPr>
              <a:t>downreg</a:t>
            </a:r>
            <a:r>
              <a:rPr lang="en-US" sz="1200" b="0" i="0" kern="1200" dirty="0">
                <a:solidFill>
                  <a:schemeClr val="tx1"/>
                </a:solidFill>
                <a:effectLst/>
                <a:latin typeface="+mn-lt"/>
                <a:ea typeface="+mn-ea"/>
                <a:cs typeface="+mn-cs"/>
              </a:rPr>
              <a:t> genes:  supported by the original authors findings that </a:t>
            </a:r>
            <a:r>
              <a:rPr lang="en-US" sz="1200" b="0" i="0" kern="1200" dirty="0" err="1">
                <a:solidFill>
                  <a:schemeClr val="tx1"/>
                </a:solidFill>
                <a:effectLst/>
                <a:latin typeface="+mn-lt"/>
                <a:ea typeface="+mn-ea"/>
                <a:cs typeface="+mn-cs"/>
              </a:rPr>
              <a:t>hILCs</a:t>
            </a:r>
            <a:r>
              <a:rPr lang="en-US" sz="1200" b="0" i="0" kern="1200" dirty="0">
                <a:solidFill>
                  <a:schemeClr val="tx1"/>
                </a:solidFill>
                <a:effectLst/>
                <a:latin typeface="+mn-lt"/>
                <a:ea typeface="+mn-ea"/>
                <a:cs typeface="+mn-cs"/>
              </a:rPr>
              <a:t> have looser regulation in more severe dengue infections.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Themes relating to macrophage activity and assembly of the MHC complex expected, given </a:t>
            </a:r>
            <a:r>
              <a:rPr lang="en-US" sz="1200" b="0" i="0" kern="1200" dirty="0" err="1">
                <a:solidFill>
                  <a:schemeClr val="tx1"/>
                </a:solidFill>
                <a:effectLst/>
                <a:latin typeface="+mn-lt"/>
                <a:ea typeface="+mn-ea"/>
                <a:cs typeface="+mn-cs"/>
              </a:rPr>
              <a:t>hILCs</a:t>
            </a:r>
            <a:r>
              <a:rPr lang="en-US" sz="1200" b="0" i="0" kern="1200" dirty="0">
                <a:solidFill>
                  <a:schemeClr val="tx1"/>
                </a:solidFill>
                <a:effectLst/>
                <a:latin typeface="+mn-lt"/>
                <a:ea typeface="+mn-ea"/>
                <a:cs typeface="+mn-cs"/>
              </a:rPr>
              <a:t> are involved in initiating the adaptive immune response.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Neurotransmitter-related themes were unexpected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MY" dirty="0"/>
          </a:p>
        </p:txBody>
      </p:sp>
      <p:sp>
        <p:nvSpPr>
          <p:cNvPr id="4" name="Slide Number Placeholder 3"/>
          <p:cNvSpPr>
            <a:spLocks noGrp="1"/>
          </p:cNvSpPr>
          <p:nvPr>
            <p:ph type="sldNum" sz="quarter" idx="5"/>
          </p:nvPr>
        </p:nvSpPr>
        <p:spPr/>
        <p:txBody>
          <a:bodyPr/>
          <a:lstStyle/>
          <a:p>
            <a:fld id="{EAABEA47-14DD-4B1A-96AD-E51CA3E5ADA1}" type="slidenum">
              <a:rPr lang="en-MY" smtClean="0"/>
              <a:t>6</a:t>
            </a:fld>
            <a:endParaRPr lang="en-MY"/>
          </a:p>
        </p:txBody>
      </p:sp>
    </p:spTree>
    <p:extLst>
      <p:ext uri="{BB962C8B-B14F-4D97-AF65-F5344CB8AC3E}">
        <p14:creationId xmlns:p14="http://schemas.microsoft.com/office/powerpoint/2010/main" val="3379523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Are conclusions supported by data?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Also conducted a </a:t>
            </a:r>
            <a:r>
              <a:rPr lang="en-US" sz="1200" b="0" i="0" kern="1200" dirty="0" err="1">
                <a:solidFill>
                  <a:schemeClr val="tx1"/>
                </a:solidFill>
                <a:effectLst/>
                <a:latin typeface="+mn-lt"/>
                <a:ea typeface="+mn-ea"/>
                <a:cs typeface="+mn-cs"/>
              </a:rPr>
              <a:t>thresholded</a:t>
            </a:r>
            <a:r>
              <a:rPr lang="en-US" sz="1200" b="0" i="0" kern="1200" dirty="0">
                <a:solidFill>
                  <a:schemeClr val="tx1"/>
                </a:solidFill>
                <a:effectLst/>
                <a:latin typeface="+mn-lt"/>
                <a:ea typeface="+mn-ea"/>
                <a:cs typeface="+mn-cs"/>
              </a:rPr>
              <a:t> gene set analysis, using g:profiler.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Most interesting results in my opinion were found when looking at only downregulated genes.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Certain themes were only significant when looking at downregulated genes, bolded here.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Found terms relating to themes like protein modification and transport, and regulation of differentiation downregulated in DHF. </a:t>
            </a:r>
            <a:endParaRPr lang="en-MY" dirty="0"/>
          </a:p>
        </p:txBody>
      </p:sp>
      <p:sp>
        <p:nvSpPr>
          <p:cNvPr id="4" name="Slide Number Placeholder 3"/>
          <p:cNvSpPr>
            <a:spLocks noGrp="1"/>
          </p:cNvSpPr>
          <p:nvPr>
            <p:ph type="sldNum" sz="quarter" idx="5"/>
          </p:nvPr>
        </p:nvSpPr>
        <p:spPr/>
        <p:txBody>
          <a:bodyPr/>
          <a:lstStyle/>
          <a:p>
            <a:fld id="{EAABEA47-14DD-4B1A-96AD-E51CA3E5ADA1}" type="slidenum">
              <a:rPr lang="en-MY" smtClean="0"/>
              <a:t>7</a:t>
            </a:fld>
            <a:endParaRPr lang="en-MY"/>
          </a:p>
        </p:txBody>
      </p:sp>
    </p:spTree>
    <p:extLst>
      <p:ext uri="{BB962C8B-B14F-4D97-AF65-F5344CB8AC3E}">
        <p14:creationId xmlns:p14="http://schemas.microsoft.com/office/powerpoint/2010/main" val="359822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Correlation between lower regulation in </a:t>
            </a:r>
            <a:r>
              <a:rPr lang="en-US" dirty="0" err="1"/>
              <a:t>hILC</a:t>
            </a:r>
            <a:r>
              <a:rPr lang="en-US" dirty="0"/>
              <a:t> activation and DENV infection severity -&gt; due to downregulation of protein modifications and transport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Affirmation that </a:t>
            </a:r>
            <a:r>
              <a:rPr lang="en-US" dirty="0" err="1"/>
              <a:t>hILCs</a:t>
            </a:r>
            <a:r>
              <a:rPr lang="en-US" dirty="0"/>
              <a:t> play a role in different immune responses increase in macrophage activity in DHF patients. – especially seen in enrichment of terms relating to adaptive immunity responses in </a:t>
            </a:r>
            <a:r>
              <a:rPr lang="en-US" dirty="0" err="1"/>
              <a:t>upreg</a:t>
            </a:r>
            <a:r>
              <a:rPr lang="en-US" dirty="0"/>
              <a:t>. Genes.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Gsea</a:t>
            </a:r>
            <a:r>
              <a:rPr lang="en-US" dirty="0"/>
              <a:t> visualization results suggest involvement of synaptic transmission genes in the severity of dengue infection.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AABEA47-14DD-4B1A-96AD-E51CA3E5ADA1}" type="slidenum">
              <a:rPr lang="en-MY" smtClean="0"/>
              <a:t>8</a:t>
            </a:fld>
            <a:endParaRPr lang="en-MY"/>
          </a:p>
        </p:txBody>
      </p:sp>
    </p:spTree>
    <p:extLst>
      <p:ext uri="{BB962C8B-B14F-4D97-AF65-F5344CB8AC3E}">
        <p14:creationId xmlns:p14="http://schemas.microsoft.com/office/powerpoint/2010/main" val="575639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612C2-22BB-00C0-3E68-AD73C43F3B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7CFC823B-90BB-F12C-D2D0-18D619E350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9E7AEF04-23FD-A217-6F41-A691B4E6F3A9}"/>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5" name="Footer Placeholder 4">
            <a:extLst>
              <a:ext uri="{FF2B5EF4-FFF2-40B4-BE49-F238E27FC236}">
                <a16:creationId xmlns:a16="http://schemas.microsoft.com/office/drawing/2014/main" id="{A334FC7D-F6D5-2881-607B-15D7DD2666ED}"/>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891CDFD-C15F-0059-FA0E-74EB2D6D07A9}"/>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934622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87E0C-4106-62E9-E5D7-2235456698D8}"/>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330F1D4E-C667-EE53-4CFB-B46F57593D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94AB34A3-B33F-FE54-213D-C14613FC9AC5}"/>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5" name="Footer Placeholder 4">
            <a:extLst>
              <a:ext uri="{FF2B5EF4-FFF2-40B4-BE49-F238E27FC236}">
                <a16:creationId xmlns:a16="http://schemas.microsoft.com/office/drawing/2014/main" id="{375F0717-EE74-1896-CE6F-5DD23F40524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C19AC151-2384-CE3C-8E79-FA3A1054EC96}"/>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3019877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00F4E-65D9-81B9-7144-1326A044D3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1B952F30-826F-E18B-4584-A576494ABA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071039-5142-B1D6-9CC8-C6ADF853D71B}"/>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5" name="Footer Placeholder 4">
            <a:extLst>
              <a:ext uri="{FF2B5EF4-FFF2-40B4-BE49-F238E27FC236}">
                <a16:creationId xmlns:a16="http://schemas.microsoft.com/office/drawing/2014/main" id="{8216CBD8-6238-DA0E-B689-6A16C2079D2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D728D5F0-3B9B-B0E8-BC1C-66D7B1579423}"/>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174951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654E7-C2F1-CDED-F532-732B2B4E5EE8}"/>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8B31A921-20D2-89E4-D206-518CD14DFC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BE9D35F0-7EFF-0E0B-9437-D00E840803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5950BEEE-37BF-A251-7B0A-F4202649267F}"/>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6" name="Footer Placeholder 5">
            <a:extLst>
              <a:ext uri="{FF2B5EF4-FFF2-40B4-BE49-F238E27FC236}">
                <a16:creationId xmlns:a16="http://schemas.microsoft.com/office/drawing/2014/main" id="{8E6BA6EF-7D95-FBD2-AFD4-876C36B01231}"/>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2E8ADDEC-81B9-8F43-19C5-B8BEA6AB1971}"/>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1926182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BBEFB-446F-9019-D6D9-88D9CDAB762A}"/>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A18D0FCA-6B96-BD41-FB3D-3CBEDB7DE3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300FBD-9A55-DFD9-F3B4-CAF1DF1F53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440A11B9-B609-DF90-7882-0A2005CDA4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5ED7AF-5064-691F-C362-D9D82AC055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13F04CF9-7BA7-58C4-7DB6-DA700BE8CA07}"/>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8" name="Footer Placeholder 7">
            <a:extLst>
              <a:ext uri="{FF2B5EF4-FFF2-40B4-BE49-F238E27FC236}">
                <a16:creationId xmlns:a16="http://schemas.microsoft.com/office/drawing/2014/main" id="{74F0D0F7-6381-052E-A6B9-0F416DB10913}"/>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F5DDA9EF-584F-35CB-7943-BCB765E7BDB9}"/>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2931368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75E56-FA08-8A03-A1BE-9285B4B45253}"/>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88F6DA46-5AF5-A5D0-C54A-8B3312FCAADD}"/>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4" name="Footer Placeholder 3">
            <a:extLst>
              <a:ext uri="{FF2B5EF4-FFF2-40B4-BE49-F238E27FC236}">
                <a16:creationId xmlns:a16="http://schemas.microsoft.com/office/drawing/2014/main" id="{C33C6AA0-50D1-2BFA-11D1-82A59901B755}"/>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C9F8299A-F9C9-6722-D000-3307253BA23D}"/>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212986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047AF3-BAF0-2A8D-7312-D78DC0BA4BCA}"/>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3" name="Footer Placeholder 2">
            <a:extLst>
              <a:ext uri="{FF2B5EF4-FFF2-40B4-BE49-F238E27FC236}">
                <a16:creationId xmlns:a16="http://schemas.microsoft.com/office/drawing/2014/main" id="{B0579947-CECB-5EB3-0830-8FE4388BE3F4}"/>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DB5E187E-4961-6FFB-4FF0-7AE6D93B9D01}"/>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2196483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9AD4F-6165-0AE5-1BD6-E400C4345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96FFDFBB-5BE1-795C-FC67-12424793BB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2844D113-16D0-572B-5B6B-DF28257DF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F48166-2E11-6914-7A80-5FD62675542C}"/>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6" name="Footer Placeholder 5">
            <a:extLst>
              <a:ext uri="{FF2B5EF4-FFF2-40B4-BE49-F238E27FC236}">
                <a16:creationId xmlns:a16="http://schemas.microsoft.com/office/drawing/2014/main" id="{6303D699-12C7-69F3-3DD1-B0C91B105707}"/>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F2953B90-BC7A-AF3F-F137-C9521A7580C1}"/>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162076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FA4C2-58B5-2F03-FEB1-D6B74CE80C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E88948BB-B325-7A03-99F0-F94DA2BD5C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A2E999C6-753A-D4D8-B0C5-B0426AF92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BC59D0-58F0-7FC5-38B3-9F37B1CB4AD2}"/>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6" name="Footer Placeholder 5">
            <a:extLst>
              <a:ext uri="{FF2B5EF4-FFF2-40B4-BE49-F238E27FC236}">
                <a16:creationId xmlns:a16="http://schemas.microsoft.com/office/drawing/2014/main" id="{88FD3635-3B92-F66C-A88C-D2520B95C0E7}"/>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FA339FED-BCA4-F8D1-B020-92A5873ED9BC}"/>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812063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FC6BA-5978-E915-F9D9-D5CC6B7797A5}"/>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18D4BD3F-C25E-9E0C-0E2C-C9EB2EE8DF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8EE5048-2966-D44D-29D2-552B90D62A0E}"/>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5" name="Footer Placeholder 4">
            <a:extLst>
              <a:ext uri="{FF2B5EF4-FFF2-40B4-BE49-F238E27FC236}">
                <a16:creationId xmlns:a16="http://schemas.microsoft.com/office/drawing/2014/main" id="{132D3ED0-71BF-FBB3-08E1-AA89E0B91FD9}"/>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E3B01423-44A9-30F2-FAFB-15643C473192}"/>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2332340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C81A1A-3640-C82F-9E0E-066F664DE8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9697A159-BB41-589E-DDAD-90193AEF85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9E13E73-A7EA-0D91-25D7-7B31E48223D9}"/>
              </a:ext>
            </a:extLst>
          </p:cNvPr>
          <p:cNvSpPr>
            <a:spLocks noGrp="1"/>
          </p:cNvSpPr>
          <p:nvPr>
            <p:ph type="dt" sz="half" idx="10"/>
          </p:nvPr>
        </p:nvSpPr>
        <p:spPr/>
        <p:txBody>
          <a:bodyPr/>
          <a:lstStyle/>
          <a:p>
            <a:fld id="{C290F298-FE7B-4448-B82A-E84AB9349963}" type="datetimeFigureOut">
              <a:rPr lang="en-MY" smtClean="0"/>
              <a:t>14/3/2026</a:t>
            </a:fld>
            <a:endParaRPr lang="en-MY"/>
          </a:p>
        </p:txBody>
      </p:sp>
      <p:sp>
        <p:nvSpPr>
          <p:cNvPr id="5" name="Footer Placeholder 4">
            <a:extLst>
              <a:ext uri="{FF2B5EF4-FFF2-40B4-BE49-F238E27FC236}">
                <a16:creationId xmlns:a16="http://schemas.microsoft.com/office/drawing/2014/main" id="{7586B74D-D05E-D85A-0DDC-487FEB4221A6}"/>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411F14A9-E625-A5B6-922E-C331EF6A8406}"/>
              </a:ext>
            </a:extLst>
          </p:cNvPr>
          <p:cNvSpPr>
            <a:spLocks noGrp="1"/>
          </p:cNvSpPr>
          <p:nvPr>
            <p:ph type="sldNum" sz="quarter" idx="12"/>
          </p:nvPr>
        </p:nvSpPr>
        <p:spPr/>
        <p:txBody>
          <a:bodyPr/>
          <a:lstStyle/>
          <a:p>
            <a:fld id="{D0615CE5-DFC1-4C1E-86A0-4C1D71313039}" type="slidenum">
              <a:rPr lang="en-MY" smtClean="0"/>
              <a:t>‹#›</a:t>
            </a:fld>
            <a:endParaRPr lang="en-MY"/>
          </a:p>
        </p:txBody>
      </p:sp>
    </p:spTree>
    <p:extLst>
      <p:ext uri="{BB962C8B-B14F-4D97-AF65-F5344CB8AC3E}">
        <p14:creationId xmlns:p14="http://schemas.microsoft.com/office/powerpoint/2010/main" val="3749346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3A7C86-97C2-C814-7E31-A5DD330B1E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A9800361-F08F-83F2-4272-9C45695064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AAC7DD02-2024-C830-1E06-B55AC49C44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90F298-FE7B-4448-B82A-E84AB9349963}" type="datetimeFigureOut">
              <a:rPr lang="en-MY" smtClean="0"/>
              <a:t>14/3/2026</a:t>
            </a:fld>
            <a:endParaRPr lang="en-MY"/>
          </a:p>
        </p:txBody>
      </p:sp>
      <p:sp>
        <p:nvSpPr>
          <p:cNvPr id="5" name="Footer Placeholder 4">
            <a:extLst>
              <a:ext uri="{FF2B5EF4-FFF2-40B4-BE49-F238E27FC236}">
                <a16:creationId xmlns:a16="http://schemas.microsoft.com/office/drawing/2014/main" id="{F441D26F-932C-865B-304D-246818744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0C7124F3-6D58-1C7B-3A2B-A929C4C562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615CE5-DFC1-4C1E-86A0-4C1D71313039}" type="slidenum">
              <a:rPr lang="en-MY" smtClean="0"/>
              <a:t>‹#›</a:t>
            </a:fld>
            <a:endParaRPr lang="en-MY"/>
          </a:p>
        </p:txBody>
      </p:sp>
    </p:spTree>
    <p:extLst>
      <p:ext uri="{BB962C8B-B14F-4D97-AF65-F5344CB8AC3E}">
        <p14:creationId xmlns:p14="http://schemas.microsoft.com/office/powerpoint/2010/main" val="3020842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cb420-2026.github.io/Laeticia_Liawas/bcb420-assignment1/#ref-Poonpanichakul202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E14C-FF3A-B7F4-F89F-65457B885B37}"/>
              </a:ext>
            </a:extLst>
          </p:cNvPr>
          <p:cNvSpPr>
            <a:spLocks noGrp="1"/>
          </p:cNvSpPr>
          <p:nvPr>
            <p:ph type="ctrTitle"/>
          </p:nvPr>
        </p:nvSpPr>
        <p:spPr>
          <a:xfrm>
            <a:off x="1524000" y="1322059"/>
            <a:ext cx="9144000" cy="2387600"/>
          </a:xfrm>
        </p:spPr>
        <p:txBody>
          <a:bodyPr>
            <a:normAutofit fontScale="90000"/>
          </a:bodyPr>
          <a:lstStyle/>
          <a:p>
            <a:r>
              <a:rPr lang="en-US" dirty="0"/>
              <a:t>Analysis of </a:t>
            </a:r>
            <a:r>
              <a:rPr lang="en-US" dirty="0" err="1"/>
              <a:t>hILC</a:t>
            </a:r>
            <a:r>
              <a:rPr lang="en-US" dirty="0"/>
              <a:t> RNA-seq data in patients of severe and mild dengue fever</a:t>
            </a:r>
            <a:endParaRPr lang="en-MY" dirty="0"/>
          </a:p>
        </p:txBody>
      </p:sp>
      <p:sp>
        <p:nvSpPr>
          <p:cNvPr id="3" name="Subtitle 2">
            <a:extLst>
              <a:ext uri="{FF2B5EF4-FFF2-40B4-BE49-F238E27FC236}">
                <a16:creationId xmlns:a16="http://schemas.microsoft.com/office/drawing/2014/main" id="{FB307526-4282-7638-61A7-F239B9086B1D}"/>
              </a:ext>
            </a:extLst>
          </p:cNvPr>
          <p:cNvSpPr>
            <a:spLocks noGrp="1"/>
          </p:cNvSpPr>
          <p:nvPr>
            <p:ph type="subTitle" idx="1"/>
          </p:nvPr>
        </p:nvSpPr>
        <p:spPr>
          <a:xfrm>
            <a:off x="1524000" y="3801734"/>
            <a:ext cx="9144000" cy="1655762"/>
          </a:xfrm>
        </p:spPr>
        <p:txBody>
          <a:bodyPr/>
          <a:lstStyle/>
          <a:p>
            <a:r>
              <a:rPr lang="en-US" dirty="0"/>
              <a:t>Laeticia Liawas</a:t>
            </a:r>
          </a:p>
          <a:p>
            <a:r>
              <a:rPr lang="en-US" dirty="0"/>
              <a:t>BCB420 A3 Presentation</a:t>
            </a:r>
          </a:p>
          <a:p>
            <a:r>
              <a:rPr lang="en-US" dirty="0"/>
              <a:t>Mar 17 2026</a:t>
            </a:r>
          </a:p>
        </p:txBody>
      </p:sp>
    </p:spTree>
    <p:extLst>
      <p:ext uri="{BB962C8B-B14F-4D97-AF65-F5344CB8AC3E}">
        <p14:creationId xmlns:p14="http://schemas.microsoft.com/office/powerpoint/2010/main" val="235357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DBFD3-6B87-C39B-BEA5-D15C2FA24704}"/>
              </a:ext>
            </a:extLst>
          </p:cNvPr>
          <p:cNvSpPr>
            <a:spLocks noGrp="1"/>
          </p:cNvSpPr>
          <p:nvPr>
            <p:ph type="title"/>
          </p:nvPr>
        </p:nvSpPr>
        <p:spPr/>
        <p:txBody>
          <a:bodyPr/>
          <a:lstStyle/>
          <a:p>
            <a:r>
              <a:rPr lang="en-US" dirty="0"/>
              <a:t>Introduction</a:t>
            </a:r>
            <a:endParaRPr lang="en-MY" dirty="0"/>
          </a:p>
        </p:txBody>
      </p:sp>
      <p:sp>
        <p:nvSpPr>
          <p:cNvPr id="3" name="Content Placeholder 2">
            <a:extLst>
              <a:ext uri="{FF2B5EF4-FFF2-40B4-BE49-F238E27FC236}">
                <a16:creationId xmlns:a16="http://schemas.microsoft.com/office/drawing/2014/main" id="{DB1288A2-9303-C592-90EA-A959D43C5B3D}"/>
              </a:ext>
            </a:extLst>
          </p:cNvPr>
          <p:cNvSpPr>
            <a:spLocks noGrp="1"/>
          </p:cNvSpPr>
          <p:nvPr>
            <p:ph idx="1"/>
          </p:nvPr>
        </p:nvSpPr>
        <p:spPr/>
        <p:txBody>
          <a:bodyPr/>
          <a:lstStyle/>
          <a:p>
            <a:r>
              <a:rPr lang="en-US" dirty="0"/>
              <a:t>Dengue virus remains a threat, especially tropical areas.</a:t>
            </a:r>
          </a:p>
          <a:p>
            <a:r>
              <a:rPr lang="en-US" dirty="0"/>
              <a:t>Infections can range in severity, from mild dengue fever (DF) to dengue </a:t>
            </a:r>
            <a:r>
              <a:rPr lang="en-US" dirty="0" err="1"/>
              <a:t>haemorrhagic</a:t>
            </a:r>
            <a:r>
              <a:rPr lang="en-US" dirty="0"/>
              <a:t> fever (DHF), and dengue shock syndrome which can be fatal. </a:t>
            </a:r>
          </a:p>
          <a:p>
            <a:r>
              <a:rPr lang="en-US" dirty="0"/>
              <a:t>Adaptive immune response has been characterized well, but studies on innate immune response are limited</a:t>
            </a:r>
          </a:p>
          <a:p>
            <a:pPr lvl="1"/>
            <a:r>
              <a:rPr lang="en-US" dirty="0"/>
              <a:t>This includes helper innate lymphoid cells (</a:t>
            </a:r>
            <a:r>
              <a:rPr lang="en-US" dirty="0" err="1"/>
              <a:t>hILCs</a:t>
            </a:r>
            <a:r>
              <a:rPr lang="en-US" dirty="0"/>
              <a:t>) which are akin to the helper T cells.</a:t>
            </a:r>
          </a:p>
          <a:p>
            <a:endParaRPr lang="en-MY" dirty="0"/>
          </a:p>
        </p:txBody>
      </p:sp>
    </p:spTree>
    <p:extLst>
      <p:ext uri="{BB962C8B-B14F-4D97-AF65-F5344CB8AC3E}">
        <p14:creationId xmlns:p14="http://schemas.microsoft.com/office/powerpoint/2010/main" val="3821122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C454-A6C0-E064-A20D-AA5B0284B77E}"/>
              </a:ext>
            </a:extLst>
          </p:cNvPr>
          <p:cNvSpPr>
            <a:spLocks noGrp="1"/>
          </p:cNvSpPr>
          <p:nvPr>
            <p:ph type="title"/>
          </p:nvPr>
        </p:nvSpPr>
        <p:spPr/>
        <p:txBody>
          <a:bodyPr/>
          <a:lstStyle/>
          <a:p>
            <a:r>
              <a:rPr lang="en-US" dirty="0"/>
              <a:t>Introduction</a:t>
            </a:r>
            <a:endParaRPr lang="en-MY" dirty="0"/>
          </a:p>
        </p:txBody>
      </p:sp>
      <p:sp>
        <p:nvSpPr>
          <p:cNvPr id="3" name="Content Placeholder 2">
            <a:extLst>
              <a:ext uri="{FF2B5EF4-FFF2-40B4-BE49-F238E27FC236}">
                <a16:creationId xmlns:a16="http://schemas.microsoft.com/office/drawing/2014/main" id="{9DD4ACF9-F680-B6CF-A083-7F5C4E05F54F}"/>
              </a:ext>
            </a:extLst>
          </p:cNvPr>
          <p:cNvSpPr>
            <a:spLocks noGrp="1"/>
          </p:cNvSpPr>
          <p:nvPr>
            <p:ph idx="1"/>
          </p:nvPr>
        </p:nvSpPr>
        <p:spPr>
          <a:xfrm>
            <a:off x="360642" y="1690688"/>
            <a:ext cx="4288737" cy="4351338"/>
          </a:xfrm>
        </p:spPr>
        <p:txBody>
          <a:bodyPr>
            <a:normAutofit/>
          </a:bodyPr>
          <a:lstStyle/>
          <a:p>
            <a:pPr marL="0" indent="0">
              <a:buNone/>
            </a:pPr>
            <a:r>
              <a:rPr lang="en-US" dirty="0"/>
              <a:t>Bulk RNA-seq data of </a:t>
            </a:r>
            <a:r>
              <a:rPr lang="en-US" dirty="0" err="1"/>
              <a:t>hILCs</a:t>
            </a:r>
            <a:r>
              <a:rPr lang="en-US" dirty="0"/>
              <a:t> in patients in the </a:t>
            </a:r>
            <a:r>
              <a:rPr lang="en-US" b="1" dirty="0"/>
              <a:t>febrile </a:t>
            </a:r>
            <a:r>
              <a:rPr lang="en-US" dirty="0"/>
              <a:t>phase of the </a:t>
            </a:r>
            <a:r>
              <a:rPr lang="en-US" b="1" dirty="0"/>
              <a:t>severe dengue </a:t>
            </a:r>
            <a:r>
              <a:rPr lang="en-US" b="1" dirty="0" err="1"/>
              <a:t>haemorrhagic</a:t>
            </a:r>
            <a:r>
              <a:rPr lang="en-US" b="1" dirty="0"/>
              <a:t> fever (DHF), </a:t>
            </a:r>
            <a:r>
              <a:rPr lang="en-US" dirty="0"/>
              <a:t>or </a:t>
            </a:r>
            <a:r>
              <a:rPr lang="en-US" b="1" dirty="0"/>
              <a:t>mild dengue fever (DF) </a:t>
            </a:r>
            <a:r>
              <a:rPr lang="it-IT" dirty="0"/>
              <a:t>(Poonpanichakul et al. (</a:t>
            </a:r>
            <a:r>
              <a:rPr lang="it-IT" dirty="0">
                <a:hlinkClick r:id="rId3"/>
              </a:rPr>
              <a:t>2021</a:t>
            </a:r>
            <a:r>
              <a:rPr lang="it-IT" dirty="0"/>
              <a:t>), GEO accession GSE155672).</a:t>
            </a:r>
            <a:endParaRPr lang="en-US" b="1" dirty="0"/>
          </a:p>
          <a:p>
            <a:pPr marL="0" indent="0">
              <a:buNone/>
            </a:pPr>
            <a:endParaRPr lang="en-US" dirty="0"/>
          </a:p>
        </p:txBody>
      </p:sp>
      <p:pic>
        <p:nvPicPr>
          <p:cNvPr id="1026" name="Picture 2" descr="Density plots showing the distribution of reads for each gene, for each sample before normalisation and cleaning. Read counts were log2-transformed before plotting. For sample names, DHF = dengue haemorrhagic fever, DF = dengue fever; phase is indicated as: F = febrile phase. Numbers in sample names denote the patient, where each sample with the same number and same disease was taken from the same patient, at different timepoints. ">
            <a:extLst>
              <a:ext uri="{FF2B5EF4-FFF2-40B4-BE49-F238E27FC236}">
                <a16:creationId xmlns:a16="http://schemas.microsoft.com/office/drawing/2014/main" id="{653F021C-1710-28DD-C5D5-AF4673D5B6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t="9302" r="797"/>
          <a:stretch>
            <a:fillRect/>
          </a:stretch>
        </p:blipFill>
        <p:spPr bwMode="auto">
          <a:xfrm>
            <a:off x="4528529" y="0"/>
            <a:ext cx="3877498" cy="25321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nsity plots showing the distribution of reads for each gene, for each sample after normalisation and cleaning. Read counts were log2-transformed before plotting. For sample names, DHF = dengue haemorrhagic fever, DF = dengue fever; phase is indicated as: F = febrile phase. Numbers in sample names denote the patient, where each sample with the same number and same disease was taken from the same patient, at different timepoints. ">
            <a:extLst>
              <a:ext uri="{FF2B5EF4-FFF2-40B4-BE49-F238E27FC236}">
                <a16:creationId xmlns:a16="http://schemas.microsoft.com/office/drawing/2014/main" id="{9A183202-E25C-4967-6460-F699FDB2C4E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9112"/>
          <a:stretch>
            <a:fillRect/>
          </a:stretch>
        </p:blipFill>
        <p:spPr bwMode="auto">
          <a:xfrm>
            <a:off x="8433057" y="1697563"/>
            <a:ext cx="3758943" cy="244028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EA8FCFB3-B7C3-BD11-C88E-1E5F2C302D56}"/>
              </a:ext>
            </a:extLst>
          </p:cNvPr>
          <p:cNvCxnSpPr>
            <a:cxnSpLocks/>
            <a:stCxn id="1026" idx="3"/>
            <a:endCxn id="1028" idx="0"/>
          </p:cNvCxnSpPr>
          <p:nvPr/>
        </p:nvCxnSpPr>
        <p:spPr>
          <a:xfrm>
            <a:off x="8406027" y="1266093"/>
            <a:ext cx="1906502" cy="43147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28C791E-58C6-96F3-80ED-CDABCFA4ED54}"/>
              </a:ext>
            </a:extLst>
          </p:cNvPr>
          <p:cNvSpPr txBox="1"/>
          <p:nvPr/>
        </p:nvSpPr>
        <p:spPr>
          <a:xfrm>
            <a:off x="8793943" y="619824"/>
            <a:ext cx="2171940" cy="923330"/>
          </a:xfrm>
          <a:prstGeom prst="rect">
            <a:avLst/>
          </a:prstGeom>
          <a:noFill/>
        </p:spPr>
        <p:txBody>
          <a:bodyPr wrap="none" rtlCol="0">
            <a:spAutoFit/>
          </a:bodyPr>
          <a:lstStyle/>
          <a:p>
            <a:pPr algn="ctr"/>
            <a:r>
              <a:rPr lang="en-US" dirty="0"/>
              <a:t>Filtering low counts</a:t>
            </a:r>
          </a:p>
          <a:p>
            <a:pPr algn="ctr"/>
            <a:r>
              <a:rPr lang="en-US" dirty="0"/>
              <a:t>TMM </a:t>
            </a:r>
            <a:r>
              <a:rPr lang="en-US" dirty="0" err="1"/>
              <a:t>normalisation</a:t>
            </a:r>
            <a:r>
              <a:rPr lang="en-US" dirty="0"/>
              <a:t> </a:t>
            </a:r>
          </a:p>
          <a:p>
            <a:pPr algn="ctr"/>
            <a:r>
              <a:rPr lang="en-US" dirty="0"/>
              <a:t>(</a:t>
            </a:r>
            <a:r>
              <a:rPr lang="en-US" dirty="0" err="1"/>
              <a:t>edgeR</a:t>
            </a:r>
            <a:r>
              <a:rPr lang="en-US" dirty="0"/>
              <a:t>)</a:t>
            </a:r>
          </a:p>
        </p:txBody>
      </p:sp>
      <p:cxnSp>
        <p:nvCxnSpPr>
          <p:cNvPr id="15" name="Straight Arrow Connector 14">
            <a:extLst>
              <a:ext uri="{FF2B5EF4-FFF2-40B4-BE49-F238E27FC236}">
                <a16:creationId xmlns:a16="http://schemas.microsoft.com/office/drawing/2014/main" id="{49F0FE36-A874-CCA8-9D03-744ED986157A}"/>
              </a:ext>
            </a:extLst>
          </p:cNvPr>
          <p:cNvCxnSpPr>
            <a:cxnSpLocks/>
            <a:stCxn id="1028" idx="2"/>
            <a:endCxn id="1032" idx="3"/>
          </p:cNvCxnSpPr>
          <p:nvPr/>
        </p:nvCxnSpPr>
        <p:spPr>
          <a:xfrm flipH="1">
            <a:off x="9133649" y="4137849"/>
            <a:ext cx="1178880" cy="1153705"/>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F1DCE1F1-ACE8-A1FE-3B35-4E2791FA234F}"/>
              </a:ext>
            </a:extLst>
          </p:cNvPr>
          <p:cNvSpPr txBox="1"/>
          <p:nvPr/>
        </p:nvSpPr>
        <p:spPr>
          <a:xfrm>
            <a:off x="9569127" y="4597070"/>
            <a:ext cx="2316480" cy="1754326"/>
          </a:xfrm>
          <a:prstGeom prst="rect">
            <a:avLst/>
          </a:prstGeom>
          <a:noFill/>
        </p:spPr>
        <p:txBody>
          <a:bodyPr wrap="square" rtlCol="0">
            <a:spAutoFit/>
          </a:bodyPr>
          <a:lstStyle/>
          <a:p>
            <a:pPr algn="ctr"/>
            <a:r>
              <a:rPr lang="en-US" dirty="0"/>
              <a:t>Differential </a:t>
            </a:r>
          </a:p>
          <a:p>
            <a:pPr algn="ctr"/>
            <a:r>
              <a:rPr lang="en-US" dirty="0"/>
              <a:t>expression </a:t>
            </a:r>
          </a:p>
          <a:p>
            <a:pPr algn="ctr"/>
            <a:r>
              <a:rPr lang="en-US" dirty="0"/>
              <a:t>Analysis</a:t>
            </a:r>
          </a:p>
          <a:p>
            <a:pPr algn="ctr"/>
            <a:r>
              <a:rPr lang="en-US" dirty="0"/>
              <a:t>(DHF vs DF)</a:t>
            </a:r>
          </a:p>
          <a:p>
            <a:pPr algn="ctr"/>
            <a:r>
              <a:rPr lang="en-US" dirty="0"/>
              <a:t>- Scoring genes by </a:t>
            </a:r>
            <a:r>
              <a:rPr lang="en-US" dirty="0" err="1"/>
              <a:t>logFC</a:t>
            </a:r>
            <a:endParaRPr lang="en-US" dirty="0"/>
          </a:p>
        </p:txBody>
      </p:sp>
      <p:pic>
        <p:nvPicPr>
          <p:cNvPr id="1032" name="Picture 8" descr="Heatmap comparing the relative gene expression between samples, as well as between disease conditions. Bottom column names denote the sample labels; DHF = dengue haemorrhagic fever, DF = dengue fever; phase is indicated as: F = febrile phase. Numbers in sample names denote the patient, where each sample with the same number and same disease was taken from the same patient, at different timepoints. Row names indicate the differentially expressed genes. Only genes with an adjusted p-value &lt; 0.05 were included in the plot. p-value adjustment done using Benjamini-Hochberg correction. ">
            <a:extLst>
              <a:ext uri="{FF2B5EF4-FFF2-40B4-BE49-F238E27FC236}">
                <a16:creationId xmlns:a16="http://schemas.microsoft.com/office/drawing/2014/main" id="{AD91046E-ED2D-E88D-194B-E01D250938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49720" y="3725865"/>
            <a:ext cx="4383929" cy="3131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78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A633A-7C9B-5032-3B8D-B9F05D4B1775}"/>
              </a:ext>
            </a:extLst>
          </p:cNvPr>
          <p:cNvSpPr>
            <a:spLocks noGrp="1"/>
          </p:cNvSpPr>
          <p:nvPr>
            <p:ph type="title"/>
          </p:nvPr>
        </p:nvSpPr>
        <p:spPr/>
        <p:txBody>
          <a:bodyPr/>
          <a:lstStyle/>
          <a:p>
            <a:r>
              <a:rPr lang="en-US" dirty="0"/>
              <a:t>Enrichment analysis method</a:t>
            </a:r>
            <a:endParaRPr lang="en-MY" dirty="0"/>
          </a:p>
        </p:txBody>
      </p:sp>
      <p:pic>
        <p:nvPicPr>
          <p:cNvPr id="5" name="Picture 4">
            <a:extLst>
              <a:ext uri="{FF2B5EF4-FFF2-40B4-BE49-F238E27FC236}">
                <a16:creationId xmlns:a16="http://schemas.microsoft.com/office/drawing/2014/main" id="{9B02C197-157C-418F-A08D-77976EBB7F4F}"/>
              </a:ext>
            </a:extLst>
          </p:cNvPr>
          <p:cNvPicPr>
            <a:picLocks noChangeAspect="1"/>
          </p:cNvPicPr>
          <p:nvPr/>
        </p:nvPicPr>
        <p:blipFill>
          <a:blip r:embed="rId3"/>
          <a:stretch>
            <a:fillRect/>
          </a:stretch>
        </p:blipFill>
        <p:spPr>
          <a:xfrm>
            <a:off x="3670341" y="2596020"/>
            <a:ext cx="4549636" cy="2207912"/>
          </a:xfrm>
          <a:prstGeom prst="rect">
            <a:avLst/>
          </a:prstGeom>
        </p:spPr>
      </p:pic>
      <p:sp>
        <p:nvSpPr>
          <p:cNvPr id="8" name="Oval 7">
            <a:extLst>
              <a:ext uri="{FF2B5EF4-FFF2-40B4-BE49-F238E27FC236}">
                <a16:creationId xmlns:a16="http://schemas.microsoft.com/office/drawing/2014/main" id="{44599728-0A97-0F79-303B-22E96544D57E}"/>
              </a:ext>
            </a:extLst>
          </p:cNvPr>
          <p:cNvSpPr/>
          <p:nvPr/>
        </p:nvSpPr>
        <p:spPr>
          <a:xfrm>
            <a:off x="623945" y="1825625"/>
            <a:ext cx="2388198" cy="2027521"/>
          </a:xfrm>
          <a:custGeom>
            <a:avLst/>
            <a:gdLst>
              <a:gd name="csX0" fmla="*/ 0 w 2388198"/>
              <a:gd name="csY0" fmla="*/ 1013761 h 2027521"/>
              <a:gd name="csX1" fmla="*/ 1194099 w 2388198"/>
              <a:gd name="csY1" fmla="*/ 0 h 2027521"/>
              <a:gd name="csX2" fmla="*/ 2388198 w 2388198"/>
              <a:gd name="csY2" fmla="*/ 1013761 h 2027521"/>
              <a:gd name="csX3" fmla="*/ 1194099 w 2388198"/>
              <a:gd name="csY3" fmla="*/ 2027522 h 2027521"/>
              <a:gd name="csX4" fmla="*/ 0 w 2388198"/>
              <a:gd name="csY4" fmla="*/ 1013761 h 2027521"/>
            </a:gdLst>
            <a:ahLst/>
            <a:cxnLst>
              <a:cxn ang="0">
                <a:pos x="csX0" y="csY0"/>
              </a:cxn>
              <a:cxn ang="0">
                <a:pos x="csX1" y="csY1"/>
              </a:cxn>
              <a:cxn ang="0">
                <a:pos x="csX2" y="csY2"/>
              </a:cxn>
              <a:cxn ang="0">
                <a:pos x="csX3" y="csY3"/>
              </a:cxn>
              <a:cxn ang="0">
                <a:pos x="csX4" y="csY4"/>
              </a:cxn>
            </a:cxnLst>
            <a:rect l="l" t="t" r="r" b="b"/>
            <a:pathLst>
              <a:path w="2388198" h="2027521" fill="none" extrusionOk="0">
                <a:moveTo>
                  <a:pt x="0" y="1013761"/>
                </a:moveTo>
                <a:cubicBezTo>
                  <a:pt x="-101876" y="358049"/>
                  <a:pt x="503038" y="-62610"/>
                  <a:pt x="1194099" y="0"/>
                </a:cubicBezTo>
                <a:cubicBezTo>
                  <a:pt x="1946766" y="114313"/>
                  <a:pt x="2524494" y="548024"/>
                  <a:pt x="2388198" y="1013761"/>
                </a:cubicBezTo>
                <a:cubicBezTo>
                  <a:pt x="2399912" y="1484543"/>
                  <a:pt x="1835743" y="2012691"/>
                  <a:pt x="1194099" y="2027522"/>
                </a:cubicBezTo>
                <a:cubicBezTo>
                  <a:pt x="389712" y="2109693"/>
                  <a:pt x="34559" y="1668909"/>
                  <a:pt x="0" y="1013761"/>
                </a:cubicBezTo>
                <a:close/>
              </a:path>
              <a:path w="2388198" h="2027521" stroke="0" extrusionOk="0">
                <a:moveTo>
                  <a:pt x="0" y="1013761"/>
                </a:moveTo>
                <a:cubicBezTo>
                  <a:pt x="-81998" y="584073"/>
                  <a:pt x="663824" y="-112833"/>
                  <a:pt x="1194099" y="0"/>
                </a:cubicBezTo>
                <a:cubicBezTo>
                  <a:pt x="1899752" y="65751"/>
                  <a:pt x="2495426" y="374564"/>
                  <a:pt x="2388198" y="1013761"/>
                </a:cubicBezTo>
                <a:cubicBezTo>
                  <a:pt x="2420351" y="1412699"/>
                  <a:pt x="1952125" y="2112121"/>
                  <a:pt x="1194099" y="2027522"/>
                </a:cubicBezTo>
                <a:cubicBezTo>
                  <a:pt x="520018" y="2123794"/>
                  <a:pt x="-117766" y="1457897"/>
                  <a:pt x="0" y="1013761"/>
                </a:cubicBezTo>
                <a:close/>
              </a:path>
            </a:pathLst>
          </a:custGeom>
          <a:solidFill>
            <a:schemeClr val="tx2">
              <a:lumMod val="10000"/>
              <a:lumOff val="90000"/>
            </a:schemeClr>
          </a:solidFill>
          <a:ln w="38100">
            <a:solidFill>
              <a:srgbClr val="002060"/>
            </a:solidFill>
            <a:extLst>
              <a:ext uri="{C807C97D-BFC1-408E-A445-0C87EB9F89A2}">
                <ask:lineSketchStyleProps xmlns:ask="http://schemas.microsoft.com/office/drawing/2018/sketchyshapes" sd="3809068511">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Gene list (ranked by </a:t>
            </a:r>
            <a:r>
              <a:rPr lang="en-US" dirty="0" err="1">
                <a:solidFill>
                  <a:schemeClr val="tx1"/>
                </a:solidFill>
              </a:rPr>
              <a:t>logFC</a:t>
            </a:r>
            <a:r>
              <a:rPr lang="en-US" dirty="0">
                <a:solidFill>
                  <a:schemeClr val="tx1"/>
                </a:solidFill>
              </a:rPr>
              <a:t>)</a:t>
            </a:r>
            <a:endParaRPr lang="en-MY" dirty="0">
              <a:solidFill>
                <a:schemeClr val="tx1"/>
              </a:solidFill>
            </a:endParaRPr>
          </a:p>
        </p:txBody>
      </p:sp>
      <p:sp>
        <p:nvSpPr>
          <p:cNvPr id="10" name="Oval 9">
            <a:extLst>
              <a:ext uri="{FF2B5EF4-FFF2-40B4-BE49-F238E27FC236}">
                <a16:creationId xmlns:a16="http://schemas.microsoft.com/office/drawing/2014/main" id="{F76D3CBA-CC67-3349-04A8-60E8AF6ADF47}"/>
              </a:ext>
            </a:extLst>
          </p:cNvPr>
          <p:cNvSpPr/>
          <p:nvPr/>
        </p:nvSpPr>
        <p:spPr>
          <a:xfrm>
            <a:off x="623945" y="4328074"/>
            <a:ext cx="2388198" cy="2027521"/>
          </a:xfrm>
          <a:custGeom>
            <a:avLst/>
            <a:gdLst>
              <a:gd name="csX0" fmla="*/ 0 w 2388198"/>
              <a:gd name="csY0" fmla="*/ 1013761 h 2027521"/>
              <a:gd name="csX1" fmla="*/ 1194099 w 2388198"/>
              <a:gd name="csY1" fmla="*/ 0 h 2027521"/>
              <a:gd name="csX2" fmla="*/ 2388198 w 2388198"/>
              <a:gd name="csY2" fmla="*/ 1013761 h 2027521"/>
              <a:gd name="csX3" fmla="*/ 1194099 w 2388198"/>
              <a:gd name="csY3" fmla="*/ 2027522 h 2027521"/>
              <a:gd name="csX4" fmla="*/ 0 w 2388198"/>
              <a:gd name="csY4" fmla="*/ 1013761 h 2027521"/>
            </a:gdLst>
            <a:ahLst/>
            <a:cxnLst>
              <a:cxn ang="0">
                <a:pos x="csX0" y="csY0"/>
              </a:cxn>
              <a:cxn ang="0">
                <a:pos x="csX1" y="csY1"/>
              </a:cxn>
              <a:cxn ang="0">
                <a:pos x="csX2" y="csY2"/>
              </a:cxn>
              <a:cxn ang="0">
                <a:pos x="csX3" y="csY3"/>
              </a:cxn>
              <a:cxn ang="0">
                <a:pos x="csX4" y="csY4"/>
              </a:cxn>
            </a:cxnLst>
            <a:rect l="l" t="t" r="r" b="b"/>
            <a:pathLst>
              <a:path w="2388198" h="2027521" fill="none" extrusionOk="0">
                <a:moveTo>
                  <a:pt x="0" y="1013761"/>
                </a:moveTo>
                <a:cubicBezTo>
                  <a:pt x="-101876" y="358049"/>
                  <a:pt x="503038" y="-62610"/>
                  <a:pt x="1194099" y="0"/>
                </a:cubicBezTo>
                <a:cubicBezTo>
                  <a:pt x="1946766" y="114313"/>
                  <a:pt x="2524494" y="548024"/>
                  <a:pt x="2388198" y="1013761"/>
                </a:cubicBezTo>
                <a:cubicBezTo>
                  <a:pt x="2399912" y="1484543"/>
                  <a:pt x="1835743" y="2012691"/>
                  <a:pt x="1194099" y="2027522"/>
                </a:cubicBezTo>
                <a:cubicBezTo>
                  <a:pt x="389712" y="2109693"/>
                  <a:pt x="34559" y="1668909"/>
                  <a:pt x="0" y="1013761"/>
                </a:cubicBezTo>
                <a:close/>
              </a:path>
              <a:path w="2388198" h="2027521" stroke="0" extrusionOk="0">
                <a:moveTo>
                  <a:pt x="0" y="1013761"/>
                </a:moveTo>
                <a:cubicBezTo>
                  <a:pt x="-81998" y="584073"/>
                  <a:pt x="663824" y="-112833"/>
                  <a:pt x="1194099" y="0"/>
                </a:cubicBezTo>
                <a:cubicBezTo>
                  <a:pt x="1899752" y="65751"/>
                  <a:pt x="2495426" y="374564"/>
                  <a:pt x="2388198" y="1013761"/>
                </a:cubicBezTo>
                <a:cubicBezTo>
                  <a:pt x="2420351" y="1412699"/>
                  <a:pt x="1952125" y="2112121"/>
                  <a:pt x="1194099" y="2027522"/>
                </a:cubicBezTo>
                <a:cubicBezTo>
                  <a:pt x="520018" y="2123794"/>
                  <a:pt x="-117766" y="1457897"/>
                  <a:pt x="0" y="1013761"/>
                </a:cubicBezTo>
                <a:close/>
              </a:path>
            </a:pathLst>
          </a:custGeom>
          <a:solidFill>
            <a:schemeClr val="tx2">
              <a:lumMod val="10000"/>
              <a:lumOff val="90000"/>
            </a:schemeClr>
          </a:solidFill>
          <a:ln w="38100">
            <a:solidFill>
              <a:srgbClr val="002060"/>
            </a:solidFill>
            <a:extLst>
              <a:ext uri="{C807C97D-BFC1-408E-A445-0C87EB9F89A2}">
                <ask:lineSketchStyleProps xmlns:ask="http://schemas.microsoft.com/office/drawing/2018/sketchyshapes" sd="3809068511">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Pathway gene sets </a:t>
            </a:r>
          </a:p>
          <a:p>
            <a:pPr algn="ctr"/>
            <a:r>
              <a:rPr lang="en-US" dirty="0">
                <a:solidFill>
                  <a:schemeClr val="tx1"/>
                </a:solidFill>
              </a:rPr>
              <a:t>(Bader Lab, March 02 2026 ver. )</a:t>
            </a:r>
            <a:endParaRPr lang="en-MY" dirty="0">
              <a:solidFill>
                <a:schemeClr val="tx1"/>
              </a:solidFill>
            </a:endParaRPr>
          </a:p>
        </p:txBody>
      </p:sp>
      <p:cxnSp>
        <p:nvCxnSpPr>
          <p:cNvPr id="11" name="Straight Arrow Connector 10">
            <a:extLst>
              <a:ext uri="{FF2B5EF4-FFF2-40B4-BE49-F238E27FC236}">
                <a16:creationId xmlns:a16="http://schemas.microsoft.com/office/drawing/2014/main" id="{018BCF60-A4BD-A839-0657-8AB7CF498E4F}"/>
              </a:ext>
            </a:extLst>
          </p:cNvPr>
          <p:cNvCxnSpPr>
            <a:cxnSpLocks/>
            <a:stCxn id="8" idx="6"/>
            <a:endCxn id="5" idx="1"/>
          </p:cNvCxnSpPr>
          <p:nvPr/>
        </p:nvCxnSpPr>
        <p:spPr>
          <a:xfrm>
            <a:off x="3012143" y="2839386"/>
            <a:ext cx="658198" cy="86059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8FA3287-EE55-9C30-BB70-DEFC7A4F13D0}"/>
              </a:ext>
            </a:extLst>
          </p:cNvPr>
          <p:cNvCxnSpPr>
            <a:cxnSpLocks/>
          </p:cNvCxnSpPr>
          <p:nvPr/>
        </p:nvCxnSpPr>
        <p:spPr>
          <a:xfrm flipV="1">
            <a:off x="3010163" y="3988083"/>
            <a:ext cx="660178" cy="1413697"/>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4736B89-F33C-05E2-7B81-104FD7ECAE23}"/>
              </a:ext>
            </a:extLst>
          </p:cNvPr>
          <p:cNvSpPr txBox="1"/>
          <p:nvPr/>
        </p:nvSpPr>
        <p:spPr>
          <a:xfrm>
            <a:off x="4477401" y="4801615"/>
            <a:ext cx="2935516" cy="830997"/>
          </a:xfrm>
          <a:prstGeom prst="rect">
            <a:avLst/>
          </a:prstGeom>
          <a:noFill/>
        </p:spPr>
        <p:txBody>
          <a:bodyPr wrap="square">
            <a:spAutoFit/>
          </a:bodyPr>
          <a:lstStyle/>
          <a:p>
            <a:r>
              <a:rPr lang="en-MY" sz="1200" i="1" dirty="0"/>
              <a:t>fgsea_1.34.2</a:t>
            </a:r>
          </a:p>
          <a:p>
            <a:endParaRPr lang="en-MY" sz="1200" dirty="0"/>
          </a:p>
          <a:p>
            <a:r>
              <a:rPr lang="en-MY" sz="1200" dirty="0"/>
              <a:t>(Subramanian et al., 2005; Korotkevich et al., 2019)</a:t>
            </a:r>
          </a:p>
        </p:txBody>
      </p:sp>
      <p:pic>
        <p:nvPicPr>
          <p:cNvPr id="3078" name="Picture 6" descr="Welcome to Cytoscape 3">
            <a:extLst>
              <a:ext uri="{FF2B5EF4-FFF2-40B4-BE49-F238E27FC236}">
                <a16:creationId xmlns:a16="http://schemas.microsoft.com/office/drawing/2014/main" id="{97595C89-8D22-79B7-C98A-EEE461088B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13342" y="1877696"/>
            <a:ext cx="1572185" cy="1572185"/>
          </a:xfrm>
          <a:prstGeom prst="rect">
            <a:avLst/>
          </a:prstGeom>
          <a:noFill/>
          <a:extLst>
            <a:ext uri="{909E8E84-426E-40DD-AFC4-6F175D3DCCD1}">
              <a14:hiddenFill xmlns:a14="http://schemas.microsoft.com/office/drawing/2010/main">
                <a:solidFill>
                  <a:srgbClr val="FFFFFF"/>
                </a:solidFill>
              </a14:hiddenFill>
            </a:ext>
          </a:extLst>
        </p:spPr>
      </p:pic>
      <p:cxnSp>
        <p:nvCxnSpPr>
          <p:cNvPr id="48" name="Straight Arrow Connector 47">
            <a:extLst>
              <a:ext uri="{FF2B5EF4-FFF2-40B4-BE49-F238E27FC236}">
                <a16:creationId xmlns:a16="http://schemas.microsoft.com/office/drawing/2014/main" id="{133FA101-EB76-BF0F-1CEE-AE789D2AB53A}"/>
              </a:ext>
            </a:extLst>
          </p:cNvPr>
          <p:cNvCxnSpPr>
            <a:cxnSpLocks/>
            <a:endCxn id="3078" idx="1"/>
          </p:cNvCxnSpPr>
          <p:nvPr/>
        </p:nvCxnSpPr>
        <p:spPr>
          <a:xfrm flipV="1">
            <a:off x="8036873" y="2663789"/>
            <a:ext cx="1476469" cy="1307055"/>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3080" name="Picture 8">
            <a:extLst>
              <a:ext uri="{FF2B5EF4-FFF2-40B4-BE49-F238E27FC236}">
                <a16:creationId xmlns:a16="http://schemas.microsoft.com/office/drawing/2014/main" id="{EBE2FD13-4CA8-207E-97F6-F45FE7667C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18801" y="4625589"/>
            <a:ext cx="1389081" cy="71624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1E27D79C-626C-41F5-B188-8EB714D1B1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38877" y="4967469"/>
            <a:ext cx="1190513" cy="1190513"/>
          </a:xfrm>
          <a:prstGeom prst="rect">
            <a:avLst/>
          </a:prstGeom>
          <a:noFill/>
          <a:extLst>
            <a:ext uri="{909E8E84-426E-40DD-AFC4-6F175D3DCCD1}">
              <a14:hiddenFill xmlns:a14="http://schemas.microsoft.com/office/drawing/2010/main">
                <a:solidFill>
                  <a:srgbClr val="FFFFFF"/>
                </a:solidFill>
              </a14:hiddenFill>
            </a:ext>
          </a:extLst>
        </p:spPr>
      </p:pic>
      <p:cxnSp>
        <p:nvCxnSpPr>
          <p:cNvPr id="56" name="Straight Arrow Connector 55">
            <a:extLst>
              <a:ext uri="{FF2B5EF4-FFF2-40B4-BE49-F238E27FC236}">
                <a16:creationId xmlns:a16="http://schemas.microsoft.com/office/drawing/2014/main" id="{294B93C4-51B4-DFDC-F38A-A8F08178B427}"/>
              </a:ext>
            </a:extLst>
          </p:cNvPr>
          <p:cNvCxnSpPr>
            <a:cxnSpLocks/>
            <a:stCxn id="3078" idx="2"/>
          </p:cNvCxnSpPr>
          <p:nvPr/>
        </p:nvCxnSpPr>
        <p:spPr>
          <a:xfrm>
            <a:off x="10299435" y="3449881"/>
            <a:ext cx="39442" cy="99592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0E85F02-FC9C-1EE8-E222-F97350FDA497}"/>
              </a:ext>
            </a:extLst>
          </p:cNvPr>
          <p:cNvSpPr txBox="1"/>
          <p:nvPr/>
        </p:nvSpPr>
        <p:spPr>
          <a:xfrm>
            <a:off x="8243395" y="5533009"/>
            <a:ext cx="2349533" cy="830997"/>
          </a:xfrm>
          <a:prstGeom prst="rect">
            <a:avLst/>
          </a:prstGeom>
          <a:noFill/>
        </p:spPr>
        <p:txBody>
          <a:bodyPr wrap="square">
            <a:spAutoFit/>
          </a:bodyPr>
          <a:lstStyle/>
          <a:p>
            <a:r>
              <a:rPr lang="en-MY" sz="1200" dirty="0" err="1"/>
              <a:t>Cytoscape</a:t>
            </a:r>
            <a:r>
              <a:rPr lang="en-MY" sz="1200" dirty="0"/>
              <a:t> version: 3.10.4</a:t>
            </a:r>
          </a:p>
          <a:p>
            <a:r>
              <a:rPr lang="en-MY" sz="1200" i="1" dirty="0"/>
              <a:t>Enrichment Map version: v3.5.0</a:t>
            </a:r>
          </a:p>
          <a:p>
            <a:r>
              <a:rPr lang="en-MY" sz="1200" i="1" dirty="0" err="1"/>
              <a:t>AutoAnnotate</a:t>
            </a:r>
            <a:r>
              <a:rPr lang="en-MY" sz="1200" i="1" dirty="0"/>
              <a:t> version: v1.5.2</a:t>
            </a:r>
            <a:endParaRPr lang="en-MY" sz="1200" dirty="0"/>
          </a:p>
          <a:p>
            <a:endParaRPr lang="en-MY" sz="1200" dirty="0"/>
          </a:p>
        </p:txBody>
      </p:sp>
      <p:sp>
        <p:nvSpPr>
          <p:cNvPr id="15" name="TextBox 14">
            <a:extLst>
              <a:ext uri="{FF2B5EF4-FFF2-40B4-BE49-F238E27FC236}">
                <a16:creationId xmlns:a16="http://schemas.microsoft.com/office/drawing/2014/main" id="{9671C04C-F2D7-B02F-3E79-FA1C053012F6}"/>
              </a:ext>
            </a:extLst>
          </p:cNvPr>
          <p:cNvSpPr txBox="1"/>
          <p:nvPr/>
        </p:nvSpPr>
        <p:spPr>
          <a:xfrm>
            <a:off x="8219977" y="6186001"/>
            <a:ext cx="1647094" cy="646331"/>
          </a:xfrm>
          <a:prstGeom prst="rect">
            <a:avLst/>
          </a:prstGeom>
          <a:noFill/>
        </p:spPr>
        <p:txBody>
          <a:bodyPr wrap="square">
            <a:spAutoFit/>
          </a:bodyPr>
          <a:lstStyle/>
          <a:p>
            <a:r>
              <a:rPr lang="it-IT" sz="1200" dirty="0"/>
              <a:t> (Shannon et al., 2003; Merico et al., 2010; Kucera et al., 2016)</a:t>
            </a:r>
            <a:endParaRPr lang="en-MY" sz="1200" dirty="0"/>
          </a:p>
        </p:txBody>
      </p:sp>
    </p:spTree>
    <p:extLst>
      <p:ext uri="{BB962C8B-B14F-4D97-AF65-F5344CB8AC3E}">
        <p14:creationId xmlns:p14="http://schemas.microsoft.com/office/powerpoint/2010/main" val="338024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7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8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8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35" grpId="0"/>
      <p:bldP spid="7"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CC659-F3EF-373C-4780-9E20C91CA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F66C5-8290-4AAC-E908-22B5785C3B44}"/>
              </a:ext>
            </a:extLst>
          </p:cNvPr>
          <p:cNvSpPr>
            <a:spLocks noGrp="1"/>
          </p:cNvSpPr>
          <p:nvPr>
            <p:ph type="title"/>
          </p:nvPr>
        </p:nvSpPr>
        <p:spPr/>
        <p:txBody>
          <a:bodyPr/>
          <a:lstStyle/>
          <a:p>
            <a:r>
              <a:rPr lang="en-US" dirty="0"/>
              <a:t>GSEA Results</a:t>
            </a:r>
            <a:endParaRPr lang="en-MY" dirty="0"/>
          </a:p>
        </p:txBody>
      </p:sp>
      <p:sp>
        <p:nvSpPr>
          <p:cNvPr id="3" name="Content Placeholder 2">
            <a:extLst>
              <a:ext uri="{FF2B5EF4-FFF2-40B4-BE49-F238E27FC236}">
                <a16:creationId xmlns:a16="http://schemas.microsoft.com/office/drawing/2014/main" id="{D419676C-D533-D251-25E1-A2E1678A3CF1}"/>
              </a:ext>
            </a:extLst>
          </p:cNvPr>
          <p:cNvSpPr>
            <a:spLocks noGrp="1"/>
          </p:cNvSpPr>
          <p:nvPr>
            <p:ph idx="1"/>
          </p:nvPr>
        </p:nvSpPr>
        <p:spPr>
          <a:xfrm>
            <a:off x="318426" y="1588957"/>
            <a:ext cx="3941781" cy="4351338"/>
          </a:xfrm>
        </p:spPr>
        <p:txBody>
          <a:bodyPr/>
          <a:lstStyle/>
          <a:p>
            <a:r>
              <a:rPr lang="en-US" dirty="0"/>
              <a:t>Phagocytosis, engulfment and EGFR downregulation in </a:t>
            </a:r>
            <a:r>
              <a:rPr lang="en-US" dirty="0" err="1"/>
              <a:t>upreg</a:t>
            </a:r>
            <a:r>
              <a:rPr lang="en-US" dirty="0"/>
              <a:t>. genes</a:t>
            </a:r>
          </a:p>
          <a:p>
            <a:r>
              <a:rPr lang="en-US" dirty="0"/>
              <a:t>Among the top results (based on NES and p-value), most are enriched among </a:t>
            </a:r>
            <a:r>
              <a:rPr lang="en-US" dirty="0" err="1"/>
              <a:t>downreg</a:t>
            </a:r>
            <a:r>
              <a:rPr lang="en-US" dirty="0"/>
              <a:t>. genes</a:t>
            </a:r>
          </a:p>
        </p:txBody>
      </p:sp>
      <p:pic>
        <p:nvPicPr>
          <p:cNvPr id="2050" name="Picture 2" descr="Table plot for top 20 GSEA results on gene sets enriched in the list of genes, ranked by logFC in DHF (dengue haemorrhagic fever) patients compared to DF (mild dengue fever) patients and p-value, as outputted by fgsea(). Pathway column indicates the name of the pathway represented by a given gene set. Gene ranks indicate genes in the gene list which appear in the pathway gene set, based on their position in the set (by logFC). NES = enrichment of a given gene set, normalised for gene size. pval = p-value, padj = p-value with FDR-correction.">
            <a:extLst>
              <a:ext uri="{FF2B5EF4-FFF2-40B4-BE49-F238E27FC236}">
                <a16:creationId xmlns:a16="http://schemas.microsoft.com/office/drawing/2014/main" id="{98C8D6DE-484D-E2E6-FDBA-E1F4EAC3C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9981" y="1027906"/>
            <a:ext cx="7093593" cy="506685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F26EF62-A77B-4E74-7864-D0E6E4347677}"/>
              </a:ext>
            </a:extLst>
          </p:cNvPr>
          <p:cNvSpPr/>
          <p:nvPr/>
        </p:nvSpPr>
        <p:spPr>
          <a:xfrm>
            <a:off x="5054321" y="1382966"/>
            <a:ext cx="2833635" cy="41198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Rectangle 4">
            <a:extLst>
              <a:ext uri="{FF2B5EF4-FFF2-40B4-BE49-F238E27FC236}">
                <a16:creationId xmlns:a16="http://schemas.microsoft.com/office/drawing/2014/main" id="{5DD14179-C10B-7A29-A839-6C60B6008159}"/>
              </a:ext>
            </a:extLst>
          </p:cNvPr>
          <p:cNvSpPr/>
          <p:nvPr/>
        </p:nvSpPr>
        <p:spPr>
          <a:xfrm>
            <a:off x="5546690" y="4318759"/>
            <a:ext cx="2341266" cy="41198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633EE1B8-16D8-C9C6-7E48-5F7C8D58ED6C}"/>
              </a:ext>
            </a:extLst>
          </p:cNvPr>
          <p:cNvSpPr/>
          <p:nvPr/>
        </p:nvSpPr>
        <p:spPr>
          <a:xfrm>
            <a:off x="9850734" y="1794947"/>
            <a:ext cx="519165" cy="2133957"/>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CC86B22F-656A-7DF3-8946-52197371084E}"/>
              </a:ext>
            </a:extLst>
          </p:cNvPr>
          <p:cNvSpPr/>
          <p:nvPr/>
        </p:nvSpPr>
        <p:spPr>
          <a:xfrm flipV="1">
            <a:off x="9850734" y="4730740"/>
            <a:ext cx="519165" cy="775754"/>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69806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E9ED8-29DF-7319-CC37-35F73BA44995}"/>
              </a:ext>
            </a:extLst>
          </p:cNvPr>
          <p:cNvSpPr>
            <a:spLocks noGrp="1"/>
          </p:cNvSpPr>
          <p:nvPr>
            <p:ph type="title"/>
          </p:nvPr>
        </p:nvSpPr>
        <p:spPr/>
        <p:txBody>
          <a:bodyPr/>
          <a:lstStyle/>
          <a:p>
            <a:r>
              <a:rPr lang="en-US" dirty="0"/>
              <a:t>GSEA Results – Enrichment map</a:t>
            </a:r>
            <a:endParaRPr lang="en-MY" dirty="0"/>
          </a:p>
        </p:txBody>
      </p:sp>
      <p:pic>
        <p:nvPicPr>
          <p:cNvPr id="2052" name="Picture 4" descr="Network of pathways enriched in the gene list of differentially expressed genes in DHF (dengue haemorrhagic fever) patients compared to DF (mild dengue fever) (p &lt; 0.01), clustered based on pathway name similarity. In this network, nodes represent individual gene sets, in this case biological pathways, and edges represent genes that are common to the two gene sets being connected. Red = upregulated in DHF, blue = downregulated in DHF, based on NES. Size of nodes is proportional to significance (p-value). Thickness of edge is proportional to number of genes in common for two gene sets.">
            <a:extLst>
              <a:ext uri="{FF2B5EF4-FFF2-40B4-BE49-F238E27FC236}">
                <a16:creationId xmlns:a16="http://schemas.microsoft.com/office/drawing/2014/main" id="{87943FF7-0CF3-46F4-7ACA-60B761C9BACF}"/>
              </a:ext>
            </a:extLst>
          </p:cNvPr>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l="10013" t="6930" r="6664" b="8731"/>
          <a:stretch>
            <a:fillRect/>
          </a:stretch>
        </p:blipFill>
        <p:spPr bwMode="auto">
          <a:xfrm>
            <a:off x="4108290" y="1240644"/>
            <a:ext cx="8083710" cy="5009549"/>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02435A77-4F01-086C-5AEB-9CD622E41B8C}"/>
              </a:ext>
            </a:extLst>
          </p:cNvPr>
          <p:cNvSpPr>
            <a:spLocks noGrp="1"/>
          </p:cNvSpPr>
          <p:nvPr>
            <p:ph idx="1"/>
          </p:nvPr>
        </p:nvSpPr>
        <p:spPr>
          <a:xfrm>
            <a:off x="387274" y="1690688"/>
            <a:ext cx="3941781" cy="4351338"/>
          </a:xfrm>
        </p:spPr>
        <p:txBody>
          <a:bodyPr/>
          <a:lstStyle/>
          <a:p>
            <a:r>
              <a:rPr lang="en-US" dirty="0"/>
              <a:t>Less regulation in DHF </a:t>
            </a:r>
            <a:r>
              <a:rPr lang="en-US" dirty="0" err="1"/>
              <a:t>hILCs</a:t>
            </a:r>
            <a:r>
              <a:rPr lang="en-US" dirty="0"/>
              <a:t> than in DF</a:t>
            </a:r>
          </a:p>
          <a:p>
            <a:r>
              <a:rPr lang="en-US" dirty="0"/>
              <a:t>Macrophage activity</a:t>
            </a:r>
          </a:p>
          <a:p>
            <a:r>
              <a:rPr lang="en-US" dirty="0"/>
              <a:t>Assembly of MHC complex</a:t>
            </a:r>
          </a:p>
          <a:p>
            <a:r>
              <a:rPr lang="en-US" dirty="0"/>
              <a:t>Neurotransmitter-related</a:t>
            </a:r>
          </a:p>
        </p:txBody>
      </p:sp>
      <p:pic>
        <p:nvPicPr>
          <p:cNvPr id="2054" name="Picture 6" descr="Legend for the previous figure.">
            <a:extLst>
              <a:ext uri="{FF2B5EF4-FFF2-40B4-BE49-F238E27FC236}">
                <a16:creationId xmlns:a16="http://schemas.microsoft.com/office/drawing/2014/main" id="{ADC2C9A4-0C2C-EDFC-029E-E63A2375DB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2947" y="6042026"/>
            <a:ext cx="3860539" cy="71027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DA08215-87B7-375C-8EAF-86D258EEF8E1}"/>
              </a:ext>
            </a:extLst>
          </p:cNvPr>
          <p:cNvSpPr/>
          <p:nvPr/>
        </p:nvSpPr>
        <p:spPr>
          <a:xfrm>
            <a:off x="8376399" y="2871297"/>
            <a:ext cx="2129474" cy="99058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Rectangle 7">
            <a:extLst>
              <a:ext uri="{FF2B5EF4-FFF2-40B4-BE49-F238E27FC236}">
                <a16:creationId xmlns:a16="http://schemas.microsoft.com/office/drawing/2014/main" id="{ED433486-54AC-D87B-3B41-E99CB7F0C77B}"/>
              </a:ext>
            </a:extLst>
          </p:cNvPr>
          <p:cNvSpPr/>
          <p:nvPr/>
        </p:nvSpPr>
        <p:spPr>
          <a:xfrm>
            <a:off x="4107382" y="3111247"/>
            <a:ext cx="1583299" cy="67281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Rectangle 8">
            <a:extLst>
              <a:ext uri="{FF2B5EF4-FFF2-40B4-BE49-F238E27FC236}">
                <a16:creationId xmlns:a16="http://schemas.microsoft.com/office/drawing/2014/main" id="{ADC30C03-88E4-ABC3-5AF0-CD9DEF1BD53B}"/>
              </a:ext>
            </a:extLst>
          </p:cNvPr>
          <p:cNvSpPr/>
          <p:nvPr/>
        </p:nvSpPr>
        <p:spPr>
          <a:xfrm>
            <a:off x="6807495" y="1690688"/>
            <a:ext cx="1583299" cy="67281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endParaRPr lang="en-MY" dirty="0"/>
          </a:p>
        </p:txBody>
      </p:sp>
      <p:sp>
        <p:nvSpPr>
          <p:cNvPr id="10" name="Rectangle 9">
            <a:extLst>
              <a:ext uri="{FF2B5EF4-FFF2-40B4-BE49-F238E27FC236}">
                <a16:creationId xmlns:a16="http://schemas.microsoft.com/office/drawing/2014/main" id="{0466360C-A99E-F991-A636-DF0465102046}"/>
              </a:ext>
            </a:extLst>
          </p:cNvPr>
          <p:cNvSpPr/>
          <p:nvPr/>
        </p:nvSpPr>
        <p:spPr>
          <a:xfrm>
            <a:off x="5773120" y="3984728"/>
            <a:ext cx="1583299" cy="67281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10">
            <a:extLst>
              <a:ext uri="{FF2B5EF4-FFF2-40B4-BE49-F238E27FC236}">
                <a16:creationId xmlns:a16="http://schemas.microsoft.com/office/drawing/2014/main" id="{D13304E9-C266-DC6E-2B9A-407947C3D4AA}"/>
              </a:ext>
            </a:extLst>
          </p:cNvPr>
          <p:cNvSpPr/>
          <p:nvPr/>
        </p:nvSpPr>
        <p:spPr>
          <a:xfrm>
            <a:off x="8649486" y="1240644"/>
            <a:ext cx="1583299" cy="672814"/>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Rectangle 11">
            <a:extLst>
              <a:ext uri="{FF2B5EF4-FFF2-40B4-BE49-F238E27FC236}">
                <a16:creationId xmlns:a16="http://schemas.microsoft.com/office/drawing/2014/main" id="{A5837265-12F8-6D69-B5D9-F267D2F5E819}"/>
              </a:ext>
            </a:extLst>
          </p:cNvPr>
          <p:cNvSpPr/>
          <p:nvPr/>
        </p:nvSpPr>
        <p:spPr>
          <a:xfrm>
            <a:off x="4998733" y="1533266"/>
            <a:ext cx="1583299" cy="830235"/>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Rectangle 12">
            <a:extLst>
              <a:ext uri="{FF2B5EF4-FFF2-40B4-BE49-F238E27FC236}">
                <a16:creationId xmlns:a16="http://schemas.microsoft.com/office/drawing/2014/main" id="{0671FD4B-4EC1-5D0A-345B-58D2E86A1345}"/>
              </a:ext>
            </a:extLst>
          </p:cNvPr>
          <p:cNvSpPr/>
          <p:nvPr/>
        </p:nvSpPr>
        <p:spPr>
          <a:xfrm>
            <a:off x="7719235" y="4212254"/>
            <a:ext cx="1239939" cy="830235"/>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87513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0"/>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8"/>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6F9D7-1EED-5C2F-9F80-FB6C56B1D8B0}"/>
              </a:ext>
            </a:extLst>
          </p:cNvPr>
          <p:cNvSpPr>
            <a:spLocks noGrp="1"/>
          </p:cNvSpPr>
          <p:nvPr>
            <p:ph type="title"/>
          </p:nvPr>
        </p:nvSpPr>
        <p:spPr/>
        <p:txBody>
          <a:bodyPr/>
          <a:lstStyle/>
          <a:p>
            <a:r>
              <a:rPr lang="en-US" dirty="0"/>
              <a:t>Comparison with ORA</a:t>
            </a:r>
            <a:endParaRPr lang="en-MY" dirty="0"/>
          </a:p>
        </p:txBody>
      </p:sp>
      <p:pic>
        <p:nvPicPr>
          <p:cNvPr id="4098" name="Picture 2" descr="Manhattan plot showing the results of each term that was returned from the ORA analysis of the whole gene list of genes differentially expressed in hILCs of dengue haemorrhagic fever (DHF) patients compared to mild dengue fever (DF) patients. Plot is based on source and -log adjusted p-value. Each circle represents a gene set/term, where its size corresponds to the gene set size, and the opacity corresponds to its significance, where significance is determined by a threshold of adjusted p-value &lt; 0.05. ORA was conducted using g:profiler, and plot was generated by the gprofiler2 R package. P-values were corrected by FDR.">
            <a:extLst>
              <a:ext uri="{FF2B5EF4-FFF2-40B4-BE49-F238E27FC236}">
                <a16:creationId xmlns:a16="http://schemas.microsoft.com/office/drawing/2014/main" id="{E352F326-D721-C600-409E-F67C20C9F2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86" t="13648" r="2679" b="5324"/>
          <a:stretch>
            <a:fillRect/>
          </a:stretch>
        </p:blipFill>
        <p:spPr bwMode="auto">
          <a:xfrm>
            <a:off x="260221" y="1967468"/>
            <a:ext cx="4713714" cy="2923063"/>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036409E6-2190-1D87-7BEC-297DB07FFE1B}"/>
              </a:ext>
            </a:extLst>
          </p:cNvPr>
          <p:cNvSpPr/>
          <p:nvPr/>
        </p:nvSpPr>
        <p:spPr>
          <a:xfrm>
            <a:off x="6830313" y="4033662"/>
            <a:ext cx="2388198" cy="2027521"/>
          </a:xfrm>
          <a:custGeom>
            <a:avLst/>
            <a:gdLst>
              <a:gd name="csX0" fmla="*/ 0 w 2388198"/>
              <a:gd name="csY0" fmla="*/ 1013761 h 2027521"/>
              <a:gd name="csX1" fmla="*/ 1194099 w 2388198"/>
              <a:gd name="csY1" fmla="*/ 0 h 2027521"/>
              <a:gd name="csX2" fmla="*/ 2388198 w 2388198"/>
              <a:gd name="csY2" fmla="*/ 1013761 h 2027521"/>
              <a:gd name="csX3" fmla="*/ 1194099 w 2388198"/>
              <a:gd name="csY3" fmla="*/ 2027522 h 2027521"/>
              <a:gd name="csX4" fmla="*/ 0 w 2388198"/>
              <a:gd name="csY4" fmla="*/ 1013761 h 2027521"/>
            </a:gdLst>
            <a:ahLst/>
            <a:cxnLst>
              <a:cxn ang="0">
                <a:pos x="csX0" y="csY0"/>
              </a:cxn>
              <a:cxn ang="0">
                <a:pos x="csX1" y="csY1"/>
              </a:cxn>
              <a:cxn ang="0">
                <a:pos x="csX2" y="csY2"/>
              </a:cxn>
              <a:cxn ang="0">
                <a:pos x="csX3" y="csY3"/>
              </a:cxn>
              <a:cxn ang="0">
                <a:pos x="csX4" y="csY4"/>
              </a:cxn>
            </a:cxnLst>
            <a:rect l="l" t="t" r="r" b="b"/>
            <a:pathLst>
              <a:path w="2388198" h="2027521" fill="none" extrusionOk="0">
                <a:moveTo>
                  <a:pt x="0" y="1013761"/>
                </a:moveTo>
                <a:cubicBezTo>
                  <a:pt x="-101876" y="358049"/>
                  <a:pt x="503038" y="-62610"/>
                  <a:pt x="1194099" y="0"/>
                </a:cubicBezTo>
                <a:cubicBezTo>
                  <a:pt x="1946766" y="114313"/>
                  <a:pt x="2524494" y="548024"/>
                  <a:pt x="2388198" y="1013761"/>
                </a:cubicBezTo>
                <a:cubicBezTo>
                  <a:pt x="2399912" y="1484543"/>
                  <a:pt x="1835743" y="2012691"/>
                  <a:pt x="1194099" y="2027522"/>
                </a:cubicBezTo>
                <a:cubicBezTo>
                  <a:pt x="389712" y="2109693"/>
                  <a:pt x="34559" y="1668909"/>
                  <a:pt x="0" y="1013761"/>
                </a:cubicBezTo>
                <a:close/>
              </a:path>
              <a:path w="2388198" h="2027521" stroke="0" extrusionOk="0">
                <a:moveTo>
                  <a:pt x="0" y="1013761"/>
                </a:moveTo>
                <a:cubicBezTo>
                  <a:pt x="-81998" y="584073"/>
                  <a:pt x="663824" y="-112833"/>
                  <a:pt x="1194099" y="0"/>
                </a:cubicBezTo>
                <a:cubicBezTo>
                  <a:pt x="1899752" y="65751"/>
                  <a:pt x="2495426" y="374564"/>
                  <a:pt x="2388198" y="1013761"/>
                </a:cubicBezTo>
                <a:cubicBezTo>
                  <a:pt x="2420351" y="1412699"/>
                  <a:pt x="1952125" y="2112121"/>
                  <a:pt x="1194099" y="2027522"/>
                </a:cubicBezTo>
                <a:cubicBezTo>
                  <a:pt x="520018" y="2123794"/>
                  <a:pt x="-117766" y="1457897"/>
                  <a:pt x="0" y="1013761"/>
                </a:cubicBezTo>
                <a:close/>
              </a:path>
            </a:pathLst>
          </a:custGeom>
          <a:solidFill>
            <a:schemeClr val="tx2">
              <a:lumMod val="10000"/>
              <a:lumOff val="90000"/>
            </a:schemeClr>
          </a:solidFill>
          <a:ln w="38100">
            <a:solidFill>
              <a:srgbClr val="002060"/>
            </a:solidFill>
            <a:extLst>
              <a:ext uri="{C807C97D-BFC1-408E-A445-0C87EB9F89A2}">
                <ask:lineSketchStyleProps xmlns:ask="http://schemas.microsoft.com/office/drawing/2018/sketchyshapes" sd="3809068511">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Regulation of differentiation</a:t>
            </a:r>
            <a:endParaRPr lang="en-MY" dirty="0">
              <a:solidFill>
                <a:schemeClr val="tx1"/>
              </a:solidFill>
            </a:endParaRPr>
          </a:p>
        </p:txBody>
      </p:sp>
      <p:sp>
        <p:nvSpPr>
          <p:cNvPr id="9" name="Oval 8">
            <a:extLst>
              <a:ext uri="{FF2B5EF4-FFF2-40B4-BE49-F238E27FC236}">
                <a16:creationId xmlns:a16="http://schemas.microsoft.com/office/drawing/2014/main" id="{A4A488C4-1728-2DFA-7FF2-264C73BD901A}"/>
              </a:ext>
            </a:extLst>
          </p:cNvPr>
          <p:cNvSpPr/>
          <p:nvPr/>
        </p:nvSpPr>
        <p:spPr>
          <a:xfrm>
            <a:off x="9044693" y="2513021"/>
            <a:ext cx="2388198" cy="2027521"/>
          </a:xfrm>
          <a:custGeom>
            <a:avLst/>
            <a:gdLst>
              <a:gd name="csX0" fmla="*/ 0 w 2388198"/>
              <a:gd name="csY0" fmla="*/ 1013761 h 2027521"/>
              <a:gd name="csX1" fmla="*/ 1194099 w 2388198"/>
              <a:gd name="csY1" fmla="*/ 0 h 2027521"/>
              <a:gd name="csX2" fmla="*/ 2388198 w 2388198"/>
              <a:gd name="csY2" fmla="*/ 1013761 h 2027521"/>
              <a:gd name="csX3" fmla="*/ 1194099 w 2388198"/>
              <a:gd name="csY3" fmla="*/ 2027522 h 2027521"/>
              <a:gd name="csX4" fmla="*/ 0 w 2388198"/>
              <a:gd name="csY4" fmla="*/ 1013761 h 2027521"/>
            </a:gdLst>
            <a:ahLst/>
            <a:cxnLst>
              <a:cxn ang="0">
                <a:pos x="csX0" y="csY0"/>
              </a:cxn>
              <a:cxn ang="0">
                <a:pos x="csX1" y="csY1"/>
              </a:cxn>
              <a:cxn ang="0">
                <a:pos x="csX2" y="csY2"/>
              </a:cxn>
              <a:cxn ang="0">
                <a:pos x="csX3" y="csY3"/>
              </a:cxn>
              <a:cxn ang="0">
                <a:pos x="csX4" y="csY4"/>
              </a:cxn>
            </a:cxnLst>
            <a:rect l="l" t="t" r="r" b="b"/>
            <a:pathLst>
              <a:path w="2388198" h="2027521" fill="none" extrusionOk="0">
                <a:moveTo>
                  <a:pt x="0" y="1013761"/>
                </a:moveTo>
                <a:cubicBezTo>
                  <a:pt x="-101876" y="358049"/>
                  <a:pt x="503038" y="-62610"/>
                  <a:pt x="1194099" y="0"/>
                </a:cubicBezTo>
                <a:cubicBezTo>
                  <a:pt x="1946766" y="114313"/>
                  <a:pt x="2524494" y="548024"/>
                  <a:pt x="2388198" y="1013761"/>
                </a:cubicBezTo>
                <a:cubicBezTo>
                  <a:pt x="2399912" y="1484543"/>
                  <a:pt x="1835743" y="2012691"/>
                  <a:pt x="1194099" y="2027522"/>
                </a:cubicBezTo>
                <a:cubicBezTo>
                  <a:pt x="389712" y="2109693"/>
                  <a:pt x="34559" y="1668909"/>
                  <a:pt x="0" y="1013761"/>
                </a:cubicBezTo>
                <a:close/>
              </a:path>
              <a:path w="2388198" h="2027521" stroke="0" extrusionOk="0">
                <a:moveTo>
                  <a:pt x="0" y="1013761"/>
                </a:moveTo>
                <a:cubicBezTo>
                  <a:pt x="-81998" y="584073"/>
                  <a:pt x="663824" y="-112833"/>
                  <a:pt x="1194099" y="0"/>
                </a:cubicBezTo>
                <a:cubicBezTo>
                  <a:pt x="1899752" y="65751"/>
                  <a:pt x="2495426" y="374564"/>
                  <a:pt x="2388198" y="1013761"/>
                </a:cubicBezTo>
                <a:cubicBezTo>
                  <a:pt x="2420351" y="1412699"/>
                  <a:pt x="1952125" y="2112121"/>
                  <a:pt x="1194099" y="2027522"/>
                </a:cubicBezTo>
                <a:cubicBezTo>
                  <a:pt x="520018" y="2123794"/>
                  <a:pt x="-117766" y="1457897"/>
                  <a:pt x="0" y="1013761"/>
                </a:cubicBezTo>
                <a:close/>
              </a:path>
            </a:pathLst>
          </a:custGeom>
          <a:solidFill>
            <a:schemeClr val="tx2">
              <a:lumMod val="10000"/>
              <a:lumOff val="90000"/>
            </a:schemeClr>
          </a:solidFill>
          <a:ln w="38100">
            <a:solidFill>
              <a:srgbClr val="002060"/>
            </a:solidFill>
            <a:extLst>
              <a:ext uri="{C807C97D-BFC1-408E-A445-0C87EB9F89A2}">
                <ask:lineSketchStyleProps xmlns:ask="http://schemas.microsoft.com/office/drawing/2018/sketchyshapes" sd="3809068511">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Protein transport</a:t>
            </a:r>
            <a:endParaRPr lang="en-MY" dirty="0">
              <a:solidFill>
                <a:schemeClr val="tx1"/>
              </a:solidFill>
            </a:endParaRPr>
          </a:p>
        </p:txBody>
      </p:sp>
      <p:sp>
        <p:nvSpPr>
          <p:cNvPr id="10" name="Oval 9">
            <a:extLst>
              <a:ext uri="{FF2B5EF4-FFF2-40B4-BE49-F238E27FC236}">
                <a16:creationId xmlns:a16="http://schemas.microsoft.com/office/drawing/2014/main" id="{0441B0BC-D1BA-ED9A-1C78-78DCA51707DB}"/>
              </a:ext>
            </a:extLst>
          </p:cNvPr>
          <p:cNvSpPr/>
          <p:nvPr/>
        </p:nvSpPr>
        <p:spPr>
          <a:xfrm>
            <a:off x="6830313" y="1088094"/>
            <a:ext cx="2388198" cy="2027521"/>
          </a:xfrm>
          <a:custGeom>
            <a:avLst/>
            <a:gdLst>
              <a:gd name="csX0" fmla="*/ 0 w 2388198"/>
              <a:gd name="csY0" fmla="*/ 1013761 h 2027521"/>
              <a:gd name="csX1" fmla="*/ 1194099 w 2388198"/>
              <a:gd name="csY1" fmla="*/ 0 h 2027521"/>
              <a:gd name="csX2" fmla="*/ 2388198 w 2388198"/>
              <a:gd name="csY2" fmla="*/ 1013761 h 2027521"/>
              <a:gd name="csX3" fmla="*/ 1194099 w 2388198"/>
              <a:gd name="csY3" fmla="*/ 2027522 h 2027521"/>
              <a:gd name="csX4" fmla="*/ 0 w 2388198"/>
              <a:gd name="csY4" fmla="*/ 1013761 h 2027521"/>
            </a:gdLst>
            <a:ahLst/>
            <a:cxnLst>
              <a:cxn ang="0">
                <a:pos x="csX0" y="csY0"/>
              </a:cxn>
              <a:cxn ang="0">
                <a:pos x="csX1" y="csY1"/>
              </a:cxn>
              <a:cxn ang="0">
                <a:pos x="csX2" y="csY2"/>
              </a:cxn>
              <a:cxn ang="0">
                <a:pos x="csX3" y="csY3"/>
              </a:cxn>
              <a:cxn ang="0">
                <a:pos x="csX4" y="csY4"/>
              </a:cxn>
            </a:cxnLst>
            <a:rect l="l" t="t" r="r" b="b"/>
            <a:pathLst>
              <a:path w="2388198" h="2027521" fill="none" extrusionOk="0">
                <a:moveTo>
                  <a:pt x="0" y="1013761"/>
                </a:moveTo>
                <a:cubicBezTo>
                  <a:pt x="-101876" y="358049"/>
                  <a:pt x="503038" y="-62610"/>
                  <a:pt x="1194099" y="0"/>
                </a:cubicBezTo>
                <a:cubicBezTo>
                  <a:pt x="1946766" y="114313"/>
                  <a:pt x="2524494" y="548024"/>
                  <a:pt x="2388198" y="1013761"/>
                </a:cubicBezTo>
                <a:cubicBezTo>
                  <a:pt x="2399912" y="1484543"/>
                  <a:pt x="1835743" y="2012691"/>
                  <a:pt x="1194099" y="2027522"/>
                </a:cubicBezTo>
                <a:cubicBezTo>
                  <a:pt x="389712" y="2109693"/>
                  <a:pt x="34559" y="1668909"/>
                  <a:pt x="0" y="1013761"/>
                </a:cubicBezTo>
                <a:close/>
              </a:path>
              <a:path w="2388198" h="2027521" stroke="0" extrusionOk="0">
                <a:moveTo>
                  <a:pt x="0" y="1013761"/>
                </a:moveTo>
                <a:cubicBezTo>
                  <a:pt x="-81998" y="584073"/>
                  <a:pt x="663824" y="-112833"/>
                  <a:pt x="1194099" y="0"/>
                </a:cubicBezTo>
                <a:cubicBezTo>
                  <a:pt x="1899752" y="65751"/>
                  <a:pt x="2495426" y="374564"/>
                  <a:pt x="2388198" y="1013761"/>
                </a:cubicBezTo>
                <a:cubicBezTo>
                  <a:pt x="2420351" y="1412699"/>
                  <a:pt x="1952125" y="2112121"/>
                  <a:pt x="1194099" y="2027522"/>
                </a:cubicBezTo>
                <a:cubicBezTo>
                  <a:pt x="520018" y="2123794"/>
                  <a:pt x="-117766" y="1457897"/>
                  <a:pt x="0" y="1013761"/>
                </a:cubicBezTo>
                <a:close/>
              </a:path>
            </a:pathLst>
          </a:custGeom>
          <a:solidFill>
            <a:schemeClr val="tx2">
              <a:lumMod val="10000"/>
              <a:lumOff val="90000"/>
            </a:schemeClr>
          </a:solidFill>
          <a:ln w="38100">
            <a:solidFill>
              <a:srgbClr val="002060"/>
            </a:solidFill>
            <a:extLst>
              <a:ext uri="{C807C97D-BFC1-408E-A445-0C87EB9F89A2}">
                <ask:lineSketchStyleProps xmlns:ask="http://schemas.microsoft.com/office/drawing/2018/sketchyshapes" sd="3809068511">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Protein modifications</a:t>
            </a:r>
            <a:endParaRPr lang="en-MY" dirty="0">
              <a:solidFill>
                <a:schemeClr val="tx1"/>
              </a:solidFill>
            </a:endParaRPr>
          </a:p>
        </p:txBody>
      </p:sp>
      <p:cxnSp>
        <p:nvCxnSpPr>
          <p:cNvPr id="11" name="Straight Arrow Connector 10">
            <a:extLst>
              <a:ext uri="{FF2B5EF4-FFF2-40B4-BE49-F238E27FC236}">
                <a16:creationId xmlns:a16="http://schemas.microsoft.com/office/drawing/2014/main" id="{8B10B8F2-36F9-AB30-F914-82B2E01CCF2E}"/>
              </a:ext>
            </a:extLst>
          </p:cNvPr>
          <p:cNvCxnSpPr>
            <a:cxnSpLocks/>
            <a:stCxn id="4098" idx="3"/>
            <a:endCxn id="10" idx="2"/>
          </p:cNvCxnSpPr>
          <p:nvPr/>
        </p:nvCxnSpPr>
        <p:spPr>
          <a:xfrm flipV="1">
            <a:off x="4973935" y="2101855"/>
            <a:ext cx="1856378" cy="1327145"/>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6657FA6-12E1-8DDA-A10A-7DF17AD1EE0E}"/>
              </a:ext>
            </a:extLst>
          </p:cNvPr>
          <p:cNvCxnSpPr>
            <a:cxnSpLocks/>
            <a:stCxn id="4098" idx="3"/>
            <a:endCxn id="9" idx="2"/>
          </p:cNvCxnSpPr>
          <p:nvPr/>
        </p:nvCxnSpPr>
        <p:spPr>
          <a:xfrm>
            <a:off x="4973935" y="3429000"/>
            <a:ext cx="4070758" cy="97782"/>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739C134-7A7F-CD9C-ACCA-6CE634033D4D}"/>
              </a:ext>
            </a:extLst>
          </p:cNvPr>
          <p:cNvCxnSpPr>
            <a:cxnSpLocks/>
            <a:stCxn id="4098" idx="3"/>
            <a:endCxn id="8" idx="2"/>
          </p:cNvCxnSpPr>
          <p:nvPr/>
        </p:nvCxnSpPr>
        <p:spPr>
          <a:xfrm>
            <a:off x="4973935" y="3429000"/>
            <a:ext cx="1856378" cy="161842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27B915FC-1594-5D34-47DD-E058087DF73E}"/>
              </a:ext>
            </a:extLst>
          </p:cNvPr>
          <p:cNvPicPr>
            <a:picLocks noChangeAspect="1"/>
          </p:cNvPicPr>
          <p:nvPr/>
        </p:nvPicPr>
        <p:blipFill>
          <a:blip r:embed="rId4"/>
          <a:stretch>
            <a:fillRect/>
          </a:stretch>
        </p:blipFill>
        <p:spPr>
          <a:xfrm>
            <a:off x="260221" y="1763391"/>
            <a:ext cx="4845120" cy="3429000"/>
          </a:xfrm>
          <a:prstGeom prst="rect">
            <a:avLst/>
          </a:prstGeom>
        </p:spPr>
      </p:pic>
    </p:spTree>
    <p:extLst>
      <p:ext uri="{BB962C8B-B14F-4D97-AF65-F5344CB8AC3E}">
        <p14:creationId xmlns:p14="http://schemas.microsoft.com/office/powerpoint/2010/main" val="13561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BF849-2596-E342-BEF2-2F08314ABCB7}"/>
              </a:ext>
            </a:extLst>
          </p:cNvPr>
          <p:cNvSpPr>
            <a:spLocks noGrp="1"/>
          </p:cNvSpPr>
          <p:nvPr>
            <p:ph type="title"/>
          </p:nvPr>
        </p:nvSpPr>
        <p:spPr/>
        <p:txBody>
          <a:bodyPr/>
          <a:lstStyle/>
          <a:p>
            <a:r>
              <a:rPr lang="en-US" dirty="0"/>
              <a:t>Key insights – implications from results</a:t>
            </a:r>
            <a:endParaRPr lang="en-MY" dirty="0"/>
          </a:p>
        </p:txBody>
      </p:sp>
      <p:sp>
        <p:nvSpPr>
          <p:cNvPr id="3" name="Content Placeholder 2">
            <a:extLst>
              <a:ext uri="{FF2B5EF4-FFF2-40B4-BE49-F238E27FC236}">
                <a16:creationId xmlns:a16="http://schemas.microsoft.com/office/drawing/2014/main" id="{5707B71D-5BD3-2E98-8B8E-DB8483CF60B8}"/>
              </a:ext>
            </a:extLst>
          </p:cNvPr>
          <p:cNvSpPr>
            <a:spLocks noGrp="1"/>
          </p:cNvSpPr>
          <p:nvPr>
            <p:ph idx="1"/>
          </p:nvPr>
        </p:nvSpPr>
        <p:spPr/>
        <p:txBody>
          <a:bodyPr/>
          <a:lstStyle/>
          <a:p>
            <a:r>
              <a:rPr lang="en-US" dirty="0"/>
              <a:t>Correlation between lower regulation in </a:t>
            </a:r>
            <a:r>
              <a:rPr lang="en-US" dirty="0" err="1"/>
              <a:t>hILC</a:t>
            </a:r>
            <a:r>
              <a:rPr lang="en-US" dirty="0"/>
              <a:t> activation and DENV infection severity.</a:t>
            </a:r>
          </a:p>
          <a:p>
            <a:r>
              <a:rPr lang="en-US" dirty="0"/>
              <a:t>Affirmation that </a:t>
            </a:r>
            <a:r>
              <a:rPr lang="en-US" dirty="0" err="1"/>
              <a:t>hILCs</a:t>
            </a:r>
            <a:r>
              <a:rPr lang="en-US" dirty="0"/>
              <a:t> play a role in different immune responses.</a:t>
            </a:r>
          </a:p>
          <a:p>
            <a:r>
              <a:rPr lang="en-US" dirty="0"/>
              <a:t>Synaptic transmission-related genes may also be involved.</a:t>
            </a:r>
          </a:p>
          <a:p>
            <a:r>
              <a:rPr lang="en-US" dirty="0"/>
              <a:t>However: high FDR – noisy data?</a:t>
            </a:r>
          </a:p>
          <a:p>
            <a:pPr lvl="1"/>
            <a:r>
              <a:rPr lang="en-US" dirty="0"/>
              <a:t>More samples, or could try different processing methods</a:t>
            </a:r>
          </a:p>
          <a:p>
            <a:endParaRPr lang="en-MY" dirty="0"/>
          </a:p>
        </p:txBody>
      </p:sp>
    </p:spTree>
    <p:extLst>
      <p:ext uri="{BB962C8B-B14F-4D97-AF65-F5344CB8AC3E}">
        <p14:creationId xmlns:p14="http://schemas.microsoft.com/office/powerpoint/2010/main" val="190537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5789</TotalTime>
  <Words>816</Words>
  <Application>Microsoft Office PowerPoint</Application>
  <PresentationFormat>Widescreen</PresentationFormat>
  <Paragraphs>95</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Analysis of hILC RNA-seq data in patients of severe and mild dengue fever</vt:lpstr>
      <vt:lpstr>Introduction</vt:lpstr>
      <vt:lpstr>Introduction</vt:lpstr>
      <vt:lpstr>Enrichment analysis method</vt:lpstr>
      <vt:lpstr>GSEA Results</vt:lpstr>
      <vt:lpstr>GSEA Results – Enrichment map</vt:lpstr>
      <vt:lpstr>Comparison with ORA</vt:lpstr>
      <vt:lpstr>Key insights – implications from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Laeticia Liawas</dc:creator>
  <cp:lastModifiedBy>Laeticia Liawas</cp:lastModifiedBy>
  <cp:revision>1</cp:revision>
  <dcterms:created xsi:type="dcterms:W3CDTF">2026-03-12T19:57:17Z</dcterms:created>
  <dcterms:modified xsi:type="dcterms:W3CDTF">2026-03-17T18:41:42Z</dcterms:modified>
</cp:coreProperties>
</file>